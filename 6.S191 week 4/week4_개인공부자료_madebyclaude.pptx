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Shape 1"/>
          <p:cNvSpPr/>
          <p:nvPr/>
        </p:nvSpPr>
        <p:spPr>
          <a:xfrm>
            <a:off x="6858000" y="457200"/>
            <a:ext cx="2103120" cy="4114800"/>
          </a:xfrm>
          <a:prstGeom prst="rect">
            <a:avLst/>
          </a:prstGeom>
          <a:solidFill>
            <a:srgbClr val="0D2137">
              <a:alpha val="6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7315200" y="914400"/>
            <a:ext cx="1188720" cy="1188720"/>
          </a:xfrm>
          <a:prstGeom prst="ellipse">
            <a:avLst/>
          </a:prstGeom>
          <a:solidFill>
            <a:srgbClr val="00B4D8">
              <a:alpha val="3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7772400" y="2286000"/>
            <a:ext cx="640080" cy="640080"/>
          </a:xfrm>
          <a:prstGeom prst="ellipse">
            <a:avLst/>
          </a:prstGeom>
          <a:solidFill>
            <a:srgbClr val="90E0EF">
              <a:alpha val="4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7132320" y="3200400"/>
            <a:ext cx="457200" cy="457200"/>
          </a:xfrm>
          <a:prstGeom prst="ellipse">
            <a:avLst/>
          </a:prstGeom>
          <a:solidFill>
            <a:srgbClr val="F97316">
              <a:alpha val="50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64008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 6.S191 · Deep Learning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48640" y="1005840"/>
            <a:ext cx="6400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딥 생성 모델링</a:t>
            </a:r>
            <a:endParaRPr lang="en-US" sz="4400" dirty="0"/>
          </a:p>
        </p:txBody>
      </p:sp>
      <p:sp>
        <p:nvSpPr>
          <p:cNvPr id="9" name="Text 7"/>
          <p:cNvSpPr/>
          <p:nvPr/>
        </p:nvSpPr>
        <p:spPr>
          <a:xfrm>
            <a:off x="548640" y="2103120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Generative Modeling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548640" y="2697480"/>
            <a:ext cx="5029200" cy="36576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2880360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4 한국어 학습 자료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548640" y="338328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</a:t>
            </a:r>
            <a:pPr indent="0" marL="0">
              <a:buNone/>
            </a:pPr>
            <a:r>
              <a:rPr lang="en-US" sz="12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VAE · GAN · 잠재 변수 모델 · 생성 AI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0" y="4956048"/>
            <a:ext cx="9144000" cy="192024"/>
          </a:xfrm>
          <a:prstGeom prst="rect">
            <a:avLst/>
          </a:prstGeom>
          <a:solidFill>
            <a:srgbClr val="071522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4974336"/>
            <a:ext cx="8229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 Amini · MIT Introduction to Deep Learning · January 7, 2025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BF5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B4F7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73152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지도 학습 vs. 비지도 학습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20040" y="685800"/>
            <a:ext cx="3931920" cy="41605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685800"/>
            <a:ext cx="3931920" cy="384048"/>
          </a:xfrm>
          <a:prstGeom prst="rect">
            <a:avLst/>
          </a:prstGeom>
          <a:solidFill>
            <a:srgbClr val="1B4F72"/>
          </a:solidFill>
          <a:ln/>
        </p:spPr>
      </p:sp>
      <p:sp>
        <p:nvSpPr>
          <p:cNvPr id="6" name="Text 4"/>
          <p:cNvSpPr/>
          <p:nvPr/>
        </p:nvSpPr>
        <p:spPr>
          <a:xfrm>
            <a:off x="411480" y="713232"/>
            <a:ext cx="3749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지도 학습 (Supervised Learning)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75488" y="1207008"/>
            <a:ext cx="292608" cy="292608"/>
          </a:xfrm>
          <a:prstGeom prst="ellipse">
            <a:avLst/>
          </a:prstGeom>
          <a:solidFill>
            <a:srgbClr val="1B4F72"/>
          </a:solidFill>
          <a:ln/>
        </p:spPr>
      </p:sp>
      <p:sp>
        <p:nvSpPr>
          <p:cNvPr id="8" name="Text 6"/>
          <p:cNvSpPr/>
          <p:nvPr/>
        </p:nvSpPr>
        <p:spPr>
          <a:xfrm>
            <a:off x="466344" y="1207008"/>
            <a:ext cx="3108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데이터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868680" y="1188720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데이터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868680" y="1389888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(x, y) — x는 데이터, y는 레이블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75488" y="2212848"/>
            <a:ext cx="292608" cy="292608"/>
          </a:xfrm>
          <a:prstGeom prst="ellipse">
            <a:avLst/>
          </a:prstGeom>
          <a:solidFill>
            <a:srgbClr val="1B4F72"/>
          </a:solidFill>
          <a:ln/>
        </p:spPr>
      </p:sp>
      <p:sp>
        <p:nvSpPr>
          <p:cNvPr id="12" name="Text 10"/>
          <p:cNvSpPr/>
          <p:nvPr/>
        </p:nvSpPr>
        <p:spPr>
          <a:xfrm>
            <a:off x="466344" y="2212848"/>
            <a:ext cx="3108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목표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868680" y="2194560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목표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868680" y="2395728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 → y 매핑 함수 학습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75488" y="3218688"/>
            <a:ext cx="292608" cy="292608"/>
          </a:xfrm>
          <a:prstGeom prst="ellipse">
            <a:avLst/>
          </a:prstGeom>
          <a:solidFill>
            <a:srgbClr val="1B4F72"/>
          </a:solidFill>
          <a:ln/>
        </p:spPr>
      </p:sp>
      <p:sp>
        <p:nvSpPr>
          <p:cNvPr id="16" name="Text 14"/>
          <p:cNvSpPr/>
          <p:nvPr/>
        </p:nvSpPr>
        <p:spPr>
          <a:xfrm>
            <a:off x="466344" y="3218688"/>
            <a:ext cx="3108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예시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868680" y="3200400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예시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868680" y="3401568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분류, 회귀, 객체 탐지, 의미 분할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892040" y="685800"/>
            <a:ext cx="3931920" cy="41605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892040" y="685800"/>
            <a:ext cx="3931920" cy="384048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21" name="Text 19"/>
          <p:cNvSpPr/>
          <p:nvPr/>
        </p:nvSpPr>
        <p:spPr>
          <a:xfrm>
            <a:off x="4983480" y="713232"/>
            <a:ext cx="3749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비지도 학습 (Unsupervised Learning)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5047488" y="1207008"/>
            <a:ext cx="292608" cy="292608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23" name="Text 21"/>
          <p:cNvSpPr/>
          <p:nvPr/>
        </p:nvSpPr>
        <p:spPr>
          <a:xfrm>
            <a:off x="5440680" y="1188720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데이터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5440680" y="1389888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x만 존재 — 레이블 없음!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047488" y="2212848"/>
            <a:ext cx="292608" cy="292608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26" name="Text 24"/>
          <p:cNvSpPr/>
          <p:nvPr/>
        </p:nvSpPr>
        <p:spPr>
          <a:xfrm>
            <a:off x="5440680" y="2194560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목표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5440680" y="2395728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데이터의 숨겨진 구조 학습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5047488" y="3218688"/>
            <a:ext cx="292608" cy="292608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29" name="Text 27"/>
          <p:cNvSpPr/>
          <p:nvPr/>
        </p:nvSpPr>
        <p:spPr>
          <a:xfrm>
            <a:off x="5440680" y="3200400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예시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5440680" y="3401568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클러스터링, 특징 추출, 차원 축소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4261104" y="2514600"/>
            <a:ext cx="621792" cy="73152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32" name="Text 30"/>
          <p:cNvSpPr/>
          <p:nvPr/>
        </p:nvSpPr>
        <p:spPr>
          <a:xfrm>
            <a:off x="4224528" y="2404872"/>
            <a:ext cx="6949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320040" y="4754880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생성 모델링은 비지도 학습의 한 형태입니다 — 레이블 없이 데이터의 분포를 학습합니다.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BF5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73152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생성 모델링이란?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65760" y="640080"/>
            <a:ext cx="8412480" cy="82296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667512"/>
            <a:ext cx="81381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핵심 목표: </a:t>
            </a:r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학습 샘플로부터 데이터의 분포를 대표하는 모델을 학습하여, 새로운 데이터 인스턴스를 생성한다.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365760" y="1600200"/>
            <a:ext cx="3931920" cy="32461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600200"/>
            <a:ext cx="3931920" cy="365760"/>
          </a:xfrm>
          <a:prstGeom prst="rect">
            <a:avLst/>
          </a:prstGeom>
          <a:solidFill>
            <a:srgbClr val="1B4F72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1627632"/>
            <a:ext cx="3749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밀도 추정 (Density Estimation)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02920" y="2057400"/>
            <a:ext cx="365760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데이터가 어떤 확률 분포에서 왔는지 추정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분포의 모양을 학습 → P(x) 모델링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어떤 데이터가 얼마나 그럴듯한지 판단 가능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31520" y="3383280"/>
            <a:ext cx="457200" cy="256032"/>
          </a:xfrm>
          <a:prstGeom prst="ellipse">
            <a:avLst/>
          </a:prstGeom>
          <a:solidFill>
            <a:srgbClr val="00B4D8">
              <a:alpha val="50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1280160" y="3246120"/>
            <a:ext cx="457200" cy="457200"/>
          </a:xfrm>
          <a:prstGeom prst="ellipse">
            <a:avLst/>
          </a:prstGeom>
          <a:solidFill>
            <a:srgbClr val="00B4D8">
              <a:alpha val="60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1783080" y="3154680"/>
            <a:ext cx="640080" cy="594360"/>
          </a:xfrm>
          <a:prstGeom prst="ellipse">
            <a:avLst/>
          </a:prstGeom>
          <a:solidFill>
            <a:srgbClr val="00B4D8">
              <a:alpha val="70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2468880" y="3291840"/>
            <a:ext cx="457200" cy="411480"/>
          </a:xfrm>
          <a:prstGeom prst="ellipse">
            <a:avLst/>
          </a:prstGeom>
          <a:solidFill>
            <a:srgbClr val="00B4D8">
              <a:alpha val="50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3017520" y="3429000"/>
            <a:ext cx="365760" cy="228600"/>
          </a:xfrm>
          <a:prstGeom prst="ellipse">
            <a:avLst/>
          </a:prstGeom>
          <a:solidFill>
            <a:srgbClr val="00B4D8">
              <a:alpha val="40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4846320" y="1600200"/>
            <a:ext cx="3931920" cy="32461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846320" y="1600200"/>
            <a:ext cx="3931920" cy="36576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17" name="Text 15"/>
          <p:cNvSpPr/>
          <p:nvPr/>
        </p:nvSpPr>
        <p:spPr>
          <a:xfrm>
            <a:off x="4937760" y="1627632"/>
            <a:ext cx="3749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 샘플 생성 (Sample Generation)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983480" y="2057400"/>
            <a:ext cx="365760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학습된 분포에서 새로운 샘플을 뽑기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훈련 데이터와 유사하지만 본 적 없는 새 데이터 생성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Generative AI의 핵심 원리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120640" y="425196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P_model(x)  ≈  P_data(x)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BF5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B4F7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73152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왜 생성 모델이 필요한가?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65760" y="640080"/>
            <a:ext cx="841248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640080"/>
            <a:ext cx="502920" cy="1325880"/>
          </a:xfrm>
          <a:prstGeom prst="rect">
            <a:avLst/>
          </a:prstGeom>
          <a:solidFill>
            <a:srgbClr val="1B4F72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109728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05840" y="713232"/>
            <a:ext cx="7589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데이터 편향 제거 (Debiasing)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1005840" y="1033272"/>
            <a:ext cx="7589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얼굴 데이터셋에서 피부색·포즈 등 잠재 특징을 자동 발굴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과소 표현된 특징을 탐지하여 더 공정한 데이터셋 구축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65760" y="2084832"/>
            <a:ext cx="841248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65760" y="2084832"/>
            <a:ext cx="502920" cy="132588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11" name="Text 9"/>
          <p:cNvSpPr/>
          <p:nvPr/>
        </p:nvSpPr>
        <p:spPr>
          <a:xfrm>
            <a:off x="365760" y="2542032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005840" y="2157984"/>
            <a:ext cx="7589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이상치 탐지 (Outlier Detection)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1005840" y="2478024"/>
            <a:ext cx="7589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자율주행 차량: 드문 도로 상황(극단적 날씨, 보행자 등)을 확률 분포의 꼬리에서 탐지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희귀 사건을 식별하여 제어 시스템 개선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365760" y="3529584"/>
            <a:ext cx="841248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65760" y="3529584"/>
            <a:ext cx="502920" cy="132588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16" name="Text 14"/>
          <p:cNvSpPr/>
          <p:nvPr/>
        </p:nvSpPr>
        <p:spPr>
          <a:xfrm>
            <a:off x="365760" y="3986784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005840" y="3602736"/>
            <a:ext cx="7589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새 데이터 샘플 생성 (Generation)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1005840" y="3922776"/>
            <a:ext cx="7589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학습된 확률 분포로부터 샘플링 → 새로운 이미지, 텍스트, 음성 등 생성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Generative AI의 근간 (ChatGPT, Stable Diffusion 등)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73152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잠재 변수(Latent Variable)란?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65760" y="640080"/>
            <a:ext cx="4937760" cy="1097280"/>
          </a:xfrm>
          <a:prstGeom prst="rect">
            <a:avLst/>
          </a:prstGeom>
          <a:solidFill>
            <a:srgbClr val="0A2540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667512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플라톤의 동굴 비유 (Myth of the Cave)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502920" y="960120"/>
            <a:ext cx="4663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죄수들은 벽에 비친 그림자만 볼 수 있다.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진짜 사물(= 잠재 변수)은 뒤에 있지만 직접 관측 불가.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365760" y="1874520"/>
            <a:ext cx="8412480" cy="594360"/>
          </a:xfrm>
          <a:prstGeom prst="rect">
            <a:avLst/>
          </a:prstGeom>
          <a:solidFill>
            <a:srgbClr val="1B4F72"/>
          </a:solidFill>
          <a:ln/>
        </p:spPr>
      </p:sp>
      <p:sp>
        <p:nvSpPr>
          <p:cNvPr id="8" name="Text 6"/>
          <p:cNvSpPr/>
          <p:nvPr/>
        </p:nvSpPr>
        <p:spPr>
          <a:xfrm>
            <a:off x="502920" y="19202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데이터(관측)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그림자     </a:t>
            </a:r>
            <a:pPr indent="0" marL="0">
              <a:buNone/>
            </a:pPr>
            <a:r>
              <a:rPr lang="en-US" sz="13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잠재 변수(z)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뒤에 있는 진짜 사물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65760" y="2606040"/>
            <a:ext cx="2743200" cy="2331720"/>
          </a:xfrm>
          <a:prstGeom prst="rect">
            <a:avLst/>
          </a:prstGeom>
          <a:solidFill>
            <a:srgbClr val="0A2540"/>
          </a:solidFill>
          <a:ln w="12700">
            <a:solidFill>
              <a:srgbClr val="1E4A6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265176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 (잠재 변수)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57200" y="292608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포즈·표정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1097280" y="3474720"/>
            <a:ext cx="1280160" cy="4572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" y="3547872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 생성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57200" y="3813048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 (관측 데이터)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57200" y="4087368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얼굴 사진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3291840" y="2606040"/>
            <a:ext cx="2743200" cy="2331720"/>
          </a:xfrm>
          <a:prstGeom prst="rect">
            <a:avLst/>
          </a:prstGeom>
          <a:solidFill>
            <a:srgbClr val="0A2540"/>
          </a:solidFill>
          <a:ln w="12700">
            <a:solidFill>
              <a:srgbClr val="1E4A6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383280" y="265176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 (잠재 변수)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383280" y="292608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감정·의미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023360" y="3474720"/>
            <a:ext cx="1280160" cy="4572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20" name="Text 18"/>
          <p:cNvSpPr/>
          <p:nvPr/>
        </p:nvSpPr>
        <p:spPr>
          <a:xfrm>
            <a:off x="3383280" y="3547872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 생성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3383280" y="3813048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 (관측 데이터)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3383280" y="4087368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텍스트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6217920" y="2606040"/>
            <a:ext cx="2743200" cy="2331720"/>
          </a:xfrm>
          <a:prstGeom prst="rect">
            <a:avLst/>
          </a:prstGeom>
          <a:solidFill>
            <a:srgbClr val="0A2540"/>
          </a:solidFill>
          <a:ln w="12700">
            <a:solidFill>
              <a:srgbClr val="1E4A6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309360" y="265176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 (잠재 변수)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309360" y="292608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스타일·장르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6949440" y="3474720"/>
            <a:ext cx="1280160" cy="4572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27" name="Text 25"/>
          <p:cNvSpPr/>
          <p:nvPr/>
        </p:nvSpPr>
        <p:spPr>
          <a:xfrm>
            <a:off x="6309360" y="3547872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 생성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6309360" y="3813048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 (관측 데이터)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309360" y="4087368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음악 파형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365760" y="4892040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관측 데이터 x만으로 진짜 설명 인자 z를 학습할 수 있을까?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BF5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B4F7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73152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오토인코더 (Autoencoder)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685800"/>
            <a:ext cx="1005840" cy="2926080"/>
          </a:xfrm>
          <a:prstGeom prst="rect">
            <a:avLst/>
          </a:prstGeom>
          <a:solidFill>
            <a:srgbClr val="BFDBFE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783080"/>
            <a:ext cx="1005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입력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1417320" y="685800"/>
            <a:ext cx="731520" cy="2926080"/>
          </a:xfrm>
          <a:prstGeom prst="rect">
            <a:avLst/>
          </a:prstGeom>
          <a:solidFill>
            <a:srgbClr val="86EFAC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331720" y="1005840"/>
            <a:ext cx="548640" cy="2286000"/>
          </a:xfrm>
          <a:prstGeom prst="rect">
            <a:avLst/>
          </a:prstGeom>
          <a:solidFill>
            <a:srgbClr val="86EFAC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063240" y="1325880"/>
            <a:ext cx="457200" cy="1645920"/>
          </a:xfrm>
          <a:prstGeom prst="rect">
            <a:avLst/>
          </a:prstGeom>
          <a:solidFill>
            <a:srgbClr val="86EFAC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417320" y="3730752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인코더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(Encoder)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703320" y="1600200"/>
            <a:ext cx="731520" cy="1097280"/>
          </a:xfrm>
          <a:prstGeom prst="rect">
            <a:avLst/>
          </a:prstGeom>
          <a:solidFill>
            <a:srgbClr val="FCA5A5"/>
          </a:solidFill>
          <a:ln w="25400">
            <a:solidFill>
              <a:srgbClr val="F8717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703320" y="1645920"/>
            <a:ext cx="731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잠재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공간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617720" y="1325880"/>
            <a:ext cx="457200" cy="1645920"/>
          </a:xfrm>
          <a:prstGeom prst="rect">
            <a:avLst/>
          </a:prstGeom>
          <a:solidFill>
            <a:srgbClr val="C4B5FD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257800" y="1005840"/>
            <a:ext cx="548640" cy="2286000"/>
          </a:xfrm>
          <a:prstGeom prst="rect">
            <a:avLst/>
          </a:prstGeom>
          <a:solidFill>
            <a:srgbClr val="C4B5FD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989320" y="685800"/>
            <a:ext cx="731520" cy="2926080"/>
          </a:xfrm>
          <a:prstGeom prst="rect">
            <a:avLst/>
          </a:prstGeom>
          <a:solidFill>
            <a:srgbClr val="C4B5FD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617720" y="3730752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5B21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디코더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5B21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(Decoder)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903720" y="685800"/>
            <a:ext cx="1005840" cy="2926080"/>
          </a:xfrm>
          <a:prstGeom prst="rect">
            <a:avLst/>
          </a:prstGeom>
          <a:solidFill>
            <a:srgbClr val="BFDBFE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903720" y="1783080"/>
            <a:ext cx="1005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x̂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재구성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74320" y="4206240"/>
            <a:ext cx="7863840" cy="68580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19" name="Text 17"/>
          <p:cNvSpPr/>
          <p:nvPr/>
        </p:nvSpPr>
        <p:spPr>
          <a:xfrm>
            <a:off x="365760" y="4270248"/>
            <a:ext cx="7680960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손실 함수:  </a:t>
            </a:r>
            <a:pPr indent="0" marL="0">
              <a:buNone/>
            </a:pPr>
            <a:r>
              <a:rPr lang="en-US" sz="125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ℒ(x, x̂) = ‖x − x̂‖²</a:t>
            </a:r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← 레이블 불필요! 입력과 출력의 픽셀별 차이를 최소화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274320" y="4919472"/>
            <a:ext cx="8686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낮은 차원의 z(병목층)가 데이터의 핵심 특징을 압축하도록 강제 → 비지도 표현 학습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BF5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73152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잠재 공간 차원 → 재구성 품질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오토인코딩은 데이터 압축의 한 형태입니다. 잠재 공간이 작을수록 정보 손실이 커집니다.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1024128"/>
            <a:ext cx="274320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024128"/>
            <a:ext cx="2743200" cy="36576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7" name="Text 5"/>
          <p:cNvSpPr/>
          <p:nvPr/>
        </p:nvSpPr>
        <p:spPr>
          <a:xfrm>
            <a:off x="438912" y="1042416"/>
            <a:ext cx="25968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2차원 잠재 공간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1508760"/>
            <a:ext cx="411480" cy="411480"/>
          </a:xfrm>
          <a:prstGeom prst="rect">
            <a:avLst/>
          </a:prstGeom>
          <a:solidFill>
            <a:srgbClr val="64748B">
              <a:alpha val="36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1024128" y="1508760"/>
            <a:ext cx="411480" cy="411480"/>
          </a:xfrm>
          <a:prstGeom prst="rect">
            <a:avLst/>
          </a:prstGeom>
          <a:solidFill>
            <a:srgbClr val="64748B">
              <a:alpha val="60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1499616" y="1508760"/>
            <a:ext cx="411480" cy="411480"/>
          </a:xfrm>
          <a:prstGeom prst="rect">
            <a:avLst/>
          </a:prstGeom>
          <a:solidFill>
            <a:srgbClr val="64748B">
              <a:alpha val="35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1975104" y="1508760"/>
            <a:ext cx="411480" cy="411480"/>
          </a:xfrm>
          <a:prstGeom prst="rect">
            <a:avLst/>
          </a:prstGeom>
          <a:solidFill>
            <a:srgbClr val="64748B">
              <a:alpha val="54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2450592" y="1508760"/>
            <a:ext cx="411480" cy="411480"/>
          </a:xfrm>
          <a:prstGeom prst="rect">
            <a:avLst/>
          </a:prstGeom>
          <a:solidFill>
            <a:srgbClr val="64748B">
              <a:alpha val="41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548640" y="2011680"/>
            <a:ext cx="411480" cy="411480"/>
          </a:xfrm>
          <a:prstGeom prst="rect">
            <a:avLst/>
          </a:prstGeom>
          <a:solidFill>
            <a:srgbClr val="64748B">
              <a:alpha val="34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1024128" y="2011680"/>
            <a:ext cx="411480" cy="411480"/>
          </a:xfrm>
          <a:prstGeom prst="rect">
            <a:avLst/>
          </a:prstGeom>
          <a:solidFill>
            <a:srgbClr val="64748B">
              <a:alpha val="57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1499616" y="2011680"/>
            <a:ext cx="411480" cy="411480"/>
          </a:xfrm>
          <a:prstGeom prst="rect">
            <a:avLst/>
          </a:prstGeom>
          <a:solidFill>
            <a:srgbClr val="64748B">
              <a:alpha val="34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1975104" y="2011680"/>
            <a:ext cx="411480" cy="411480"/>
          </a:xfrm>
          <a:prstGeom prst="rect">
            <a:avLst/>
          </a:prstGeom>
          <a:solidFill>
            <a:srgbClr val="64748B">
              <a:alpha val="45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2450592" y="2011680"/>
            <a:ext cx="411480" cy="411480"/>
          </a:xfrm>
          <a:prstGeom prst="rect">
            <a:avLst/>
          </a:prstGeom>
          <a:solidFill>
            <a:srgbClr val="64748B">
              <a:alpha val="61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548640" y="2514600"/>
            <a:ext cx="411480" cy="411480"/>
          </a:xfrm>
          <a:prstGeom prst="rect">
            <a:avLst/>
          </a:prstGeom>
          <a:solidFill>
            <a:srgbClr val="64748B">
              <a:alpha val="53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1024128" y="2514600"/>
            <a:ext cx="411480" cy="411480"/>
          </a:xfrm>
          <a:prstGeom prst="rect">
            <a:avLst/>
          </a:prstGeom>
          <a:solidFill>
            <a:srgbClr val="64748B">
              <a:alpha val="34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1499616" y="2514600"/>
            <a:ext cx="411480" cy="411480"/>
          </a:xfrm>
          <a:prstGeom prst="rect">
            <a:avLst/>
          </a:prstGeom>
          <a:solidFill>
            <a:srgbClr val="64748B">
              <a:alpha val="62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1975104" y="2514600"/>
            <a:ext cx="411480" cy="411480"/>
          </a:xfrm>
          <a:prstGeom prst="rect">
            <a:avLst/>
          </a:prstGeom>
          <a:solidFill>
            <a:srgbClr val="64748B">
              <a:alpha val="32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2450592" y="2514600"/>
            <a:ext cx="411480" cy="411480"/>
          </a:xfrm>
          <a:prstGeom prst="rect">
            <a:avLst/>
          </a:prstGeom>
          <a:solidFill>
            <a:srgbClr val="64748B">
              <a:alpha val="67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548640" y="3017520"/>
            <a:ext cx="411480" cy="411480"/>
          </a:xfrm>
          <a:prstGeom prst="rect">
            <a:avLst/>
          </a:prstGeom>
          <a:solidFill>
            <a:srgbClr val="64748B">
              <a:alpha val="51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1024128" y="3017520"/>
            <a:ext cx="411480" cy="411480"/>
          </a:xfrm>
          <a:prstGeom prst="rect">
            <a:avLst/>
          </a:prstGeom>
          <a:solidFill>
            <a:srgbClr val="64748B">
              <a:alpha val="49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1499616" y="3017520"/>
            <a:ext cx="411480" cy="411480"/>
          </a:xfrm>
          <a:prstGeom prst="rect">
            <a:avLst/>
          </a:prstGeom>
          <a:solidFill>
            <a:srgbClr val="64748B">
              <a:alpha val="32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1975104" y="3017520"/>
            <a:ext cx="411480" cy="411480"/>
          </a:xfrm>
          <a:prstGeom prst="rect">
            <a:avLst/>
          </a:prstGeom>
          <a:solidFill>
            <a:srgbClr val="64748B">
              <a:alpha val="64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2450592" y="3017520"/>
            <a:ext cx="411480" cy="411480"/>
          </a:xfrm>
          <a:prstGeom prst="rect">
            <a:avLst/>
          </a:prstGeom>
          <a:solidFill>
            <a:srgbClr val="64748B">
              <a:alpha val="40000"/>
            </a:srgbClr>
          </a:solidFill>
          <a:ln/>
        </p:spPr>
      </p:sp>
      <p:sp>
        <p:nvSpPr>
          <p:cNvPr id="28" name="Text 26"/>
          <p:cNvSpPr/>
          <p:nvPr/>
        </p:nvSpPr>
        <p:spPr>
          <a:xfrm>
            <a:off x="457200" y="3566160"/>
            <a:ext cx="2560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과도한 압축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세부 정보 손실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57200" y="425196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품질: 낮음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3291840" y="1024128"/>
            <a:ext cx="274320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3291840" y="1024128"/>
            <a:ext cx="2743200" cy="36576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32" name="Text 30"/>
          <p:cNvSpPr/>
          <p:nvPr/>
        </p:nvSpPr>
        <p:spPr>
          <a:xfrm>
            <a:off x="3364992" y="1042416"/>
            <a:ext cx="25968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5차원 잠재 공간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3474720" y="1508760"/>
            <a:ext cx="411480" cy="411480"/>
          </a:xfrm>
          <a:prstGeom prst="rect">
            <a:avLst/>
          </a:prstGeom>
          <a:solidFill>
            <a:srgbClr val="64748B">
              <a:alpha val="79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3950208" y="1508760"/>
            <a:ext cx="411480" cy="411480"/>
          </a:xfrm>
          <a:prstGeom prst="rect">
            <a:avLst/>
          </a:prstGeom>
          <a:solidFill>
            <a:srgbClr val="64748B">
              <a:alpha val="76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4425696" y="1508760"/>
            <a:ext cx="411480" cy="411480"/>
          </a:xfrm>
          <a:prstGeom prst="rect">
            <a:avLst/>
          </a:prstGeom>
          <a:solidFill>
            <a:srgbClr val="64748B">
              <a:alpha val="77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4901184" y="1508760"/>
            <a:ext cx="411480" cy="411480"/>
          </a:xfrm>
          <a:prstGeom prst="rect">
            <a:avLst/>
          </a:prstGeom>
          <a:solidFill>
            <a:srgbClr val="64748B">
              <a:alpha val="77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5376672" y="1508760"/>
            <a:ext cx="411480" cy="411480"/>
          </a:xfrm>
          <a:prstGeom prst="rect">
            <a:avLst/>
          </a:prstGeom>
          <a:solidFill>
            <a:srgbClr val="64748B">
              <a:alpha val="86000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3474720" y="2011680"/>
            <a:ext cx="411480" cy="411480"/>
          </a:xfrm>
          <a:prstGeom prst="rect">
            <a:avLst/>
          </a:prstGeom>
          <a:solidFill>
            <a:srgbClr val="64748B">
              <a:alpha val="85000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3950208" y="2011680"/>
            <a:ext cx="411480" cy="411480"/>
          </a:xfrm>
          <a:prstGeom prst="rect">
            <a:avLst/>
          </a:prstGeom>
          <a:solidFill>
            <a:srgbClr val="64748B">
              <a:alpha val="83000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4425696" y="2011680"/>
            <a:ext cx="411480" cy="411480"/>
          </a:xfrm>
          <a:prstGeom prst="rect">
            <a:avLst/>
          </a:prstGeom>
          <a:solidFill>
            <a:srgbClr val="64748B">
              <a:alpha val="77000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4901184" y="2011680"/>
            <a:ext cx="411480" cy="411480"/>
          </a:xfrm>
          <a:prstGeom prst="rect">
            <a:avLst/>
          </a:prstGeom>
          <a:solidFill>
            <a:srgbClr val="64748B">
              <a:alpha val="75000"/>
            </a:srgbClr>
          </a:solidFill>
          <a:ln/>
        </p:spPr>
      </p:sp>
      <p:sp>
        <p:nvSpPr>
          <p:cNvPr id="42" name="Shape 40"/>
          <p:cNvSpPr/>
          <p:nvPr/>
        </p:nvSpPr>
        <p:spPr>
          <a:xfrm>
            <a:off x="5376672" y="2011680"/>
            <a:ext cx="411480" cy="411480"/>
          </a:xfrm>
          <a:prstGeom prst="rect">
            <a:avLst/>
          </a:prstGeom>
          <a:solidFill>
            <a:srgbClr val="64748B">
              <a:alpha val="85000"/>
            </a:srgbClr>
          </a:solidFill>
          <a:ln/>
        </p:spPr>
      </p:sp>
      <p:sp>
        <p:nvSpPr>
          <p:cNvPr id="43" name="Shape 41"/>
          <p:cNvSpPr/>
          <p:nvPr/>
        </p:nvSpPr>
        <p:spPr>
          <a:xfrm>
            <a:off x="3474720" y="2514600"/>
            <a:ext cx="411480" cy="411480"/>
          </a:xfrm>
          <a:prstGeom prst="rect">
            <a:avLst/>
          </a:prstGeom>
          <a:solidFill>
            <a:srgbClr val="64748B">
              <a:alpha val="75000"/>
            </a:srgbClr>
          </a:solidFill>
          <a:ln/>
        </p:spPr>
      </p:sp>
      <p:sp>
        <p:nvSpPr>
          <p:cNvPr id="44" name="Shape 42"/>
          <p:cNvSpPr/>
          <p:nvPr/>
        </p:nvSpPr>
        <p:spPr>
          <a:xfrm>
            <a:off x="3950208" y="2514600"/>
            <a:ext cx="411480" cy="411480"/>
          </a:xfrm>
          <a:prstGeom prst="rect">
            <a:avLst/>
          </a:prstGeom>
          <a:solidFill>
            <a:srgbClr val="64748B">
              <a:alpha val="71000"/>
            </a:srgbClr>
          </a:solidFill>
          <a:ln/>
        </p:spPr>
      </p:sp>
      <p:sp>
        <p:nvSpPr>
          <p:cNvPr id="45" name="Shape 43"/>
          <p:cNvSpPr/>
          <p:nvPr/>
        </p:nvSpPr>
        <p:spPr>
          <a:xfrm>
            <a:off x="4425696" y="2514600"/>
            <a:ext cx="411480" cy="411480"/>
          </a:xfrm>
          <a:prstGeom prst="rect">
            <a:avLst/>
          </a:prstGeom>
          <a:solidFill>
            <a:srgbClr val="64748B">
              <a:alpha val="86000"/>
            </a:srgbClr>
          </a:solidFill>
          <a:ln/>
        </p:spPr>
      </p:sp>
      <p:sp>
        <p:nvSpPr>
          <p:cNvPr id="46" name="Shape 44"/>
          <p:cNvSpPr/>
          <p:nvPr/>
        </p:nvSpPr>
        <p:spPr>
          <a:xfrm>
            <a:off x="4901184" y="2514600"/>
            <a:ext cx="411480" cy="411480"/>
          </a:xfrm>
          <a:prstGeom prst="rect">
            <a:avLst/>
          </a:prstGeom>
          <a:solidFill>
            <a:srgbClr val="64748B">
              <a:alpha val="71000"/>
            </a:srgbClr>
          </a:solidFill>
          <a:ln/>
        </p:spPr>
      </p:sp>
      <p:sp>
        <p:nvSpPr>
          <p:cNvPr id="47" name="Shape 45"/>
          <p:cNvSpPr/>
          <p:nvPr/>
        </p:nvSpPr>
        <p:spPr>
          <a:xfrm>
            <a:off x="5376672" y="2514600"/>
            <a:ext cx="411480" cy="411480"/>
          </a:xfrm>
          <a:prstGeom prst="rect">
            <a:avLst/>
          </a:prstGeom>
          <a:solidFill>
            <a:srgbClr val="64748B">
              <a:alpha val="77000"/>
            </a:srgbClr>
          </a:solidFill>
          <a:ln/>
        </p:spPr>
      </p:sp>
      <p:sp>
        <p:nvSpPr>
          <p:cNvPr id="48" name="Shape 46"/>
          <p:cNvSpPr/>
          <p:nvPr/>
        </p:nvSpPr>
        <p:spPr>
          <a:xfrm>
            <a:off x="3474720" y="3017520"/>
            <a:ext cx="411480" cy="411480"/>
          </a:xfrm>
          <a:prstGeom prst="rect">
            <a:avLst/>
          </a:prstGeom>
          <a:solidFill>
            <a:srgbClr val="64748B">
              <a:alpha val="90000"/>
            </a:srgbClr>
          </a:solidFill>
          <a:ln/>
        </p:spPr>
      </p:sp>
      <p:sp>
        <p:nvSpPr>
          <p:cNvPr id="49" name="Shape 47"/>
          <p:cNvSpPr/>
          <p:nvPr/>
        </p:nvSpPr>
        <p:spPr>
          <a:xfrm>
            <a:off x="3950208" y="3017520"/>
            <a:ext cx="411480" cy="411480"/>
          </a:xfrm>
          <a:prstGeom prst="rect">
            <a:avLst/>
          </a:prstGeom>
          <a:solidFill>
            <a:srgbClr val="64748B">
              <a:alpha val="70000"/>
            </a:srgbClr>
          </a:solidFill>
          <a:ln/>
        </p:spPr>
      </p:sp>
      <p:sp>
        <p:nvSpPr>
          <p:cNvPr id="50" name="Shape 48"/>
          <p:cNvSpPr/>
          <p:nvPr/>
        </p:nvSpPr>
        <p:spPr>
          <a:xfrm>
            <a:off x="4425696" y="3017520"/>
            <a:ext cx="411480" cy="411480"/>
          </a:xfrm>
          <a:prstGeom prst="rect">
            <a:avLst/>
          </a:prstGeom>
          <a:solidFill>
            <a:srgbClr val="64748B">
              <a:alpha val="90000"/>
            </a:srgbClr>
          </a:solidFill>
          <a:ln/>
        </p:spPr>
      </p:sp>
      <p:sp>
        <p:nvSpPr>
          <p:cNvPr id="51" name="Shape 49"/>
          <p:cNvSpPr/>
          <p:nvPr/>
        </p:nvSpPr>
        <p:spPr>
          <a:xfrm>
            <a:off x="4901184" y="3017520"/>
            <a:ext cx="411480" cy="411480"/>
          </a:xfrm>
          <a:prstGeom prst="rect">
            <a:avLst/>
          </a:prstGeom>
          <a:solidFill>
            <a:srgbClr val="64748B">
              <a:alpha val="87000"/>
            </a:srgbClr>
          </a:solidFill>
          <a:ln/>
        </p:spPr>
      </p:sp>
      <p:sp>
        <p:nvSpPr>
          <p:cNvPr id="52" name="Shape 50"/>
          <p:cNvSpPr/>
          <p:nvPr/>
        </p:nvSpPr>
        <p:spPr>
          <a:xfrm>
            <a:off x="5376672" y="3017520"/>
            <a:ext cx="411480" cy="411480"/>
          </a:xfrm>
          <a:prstGeom prst="rect">
            <a:avLst/>
          </a:prstGeom>
          <a:solidFill>
            <a:srgbClr val="64748B">
              <a:alpha val="71000"/>
            </a:srgbClr>
          </a:solidFill>
          <a:ln/>
        </p:spPr>
      </p:sp>
      <p:sp>
        <p:nvSpPr>
          <p:cNvPr id="53" name="Text 51"/>
          <p:cNvSpPr/>
          <p:nvPr/>
        </p:nvSpPr>
        <p:spPr>
          <a:xfrm>
            <a:off x="3383280" y="3566160"/>
            <a:ext cx="2560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적절한 압축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주요 특징 보존</a:t>
            </a:r>
            <a:endParaRPr lang="en-US" sz="1100" dirty="0"/>
          </a:p>
        </p:txBody>
      </p:sp>
      <p:sp>
        <p:nvSpPr>
          <p:cNvPr id="54" name="Text 52"/>
          <p:cNvSpPr/>
          <p:nvPr/>
        </p:nvSpPr>
        <p:spPr>
          <a:xfrm>
            <a:off x="3383280" y="425196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품질: 중간</a:t>
            </a:r>
            <a:endParaRPr lang="en-US" sz="1100" dirty="0"/>
          </a:p>
        </p:txBody>
      </p:sp>
      <p:sp>
        <p:nvSpPr>
          <p:cNvPr id="55" name="Shape 53"/>
          <p:cNvSpPr/>
          <p:nvPr/>
        </p:nvSpPr>
        <p:spPr>
          <a:xfrm>
            <a:off x="6217920" y="1024128"/>
            <a:ext cx="274320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56" name="Shape 54"/>
          <p:cNvSpPr/>
          <p:nvPr/>
        </p:nvSpPr>
        <p:spPr>
          <a:xfrm>
            <a:off x="6217920" y="1024128"/>
            <a:ext cx="2743200" cy="365760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57" name="Text 55"/>
          <p:cNvSpPr/>
          <p:nvPr/>
        </p:nvSpPr>
        <p:spPr>
          <a:xfrm>
            <a:off x="6291072" y="1042416"/>
            <a:ext cx="25968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원본 (Ground Truth)</a:t>
            </a:r>
            <a:endParaRPr lang="en-US" sz="1200" dirty="0"/>
          </a:p>
        </p:txBody>
      </p:sp>
      <p:sp>
        <p:nvSpPr>
          <p:cNvPr id="58" name="Shape 56"/>
          <p:cNvSpPr/>
          <p:nvPr/>
        </p:nvSpPr>
        <p:spPr>
          <a:xfrm>
            <a:off x="6400800" y="1508760"/>
            <a:ext cx="411480" cy="411480"/>
          </a:xfrm>
          <a:prstGeom prst="rect">
            <a:avLst/>
          </a:prstGeom>
          <a:solidFill>
            <a:srgbClr val="64748B">
              <a:alpha val="95000"/>
            </a:srgbClr>
          </a:solidFill>
          <a:ln/>
        </p:spPr>
      </p:sp>
      <p:sp>
        <p:nvSpPr>
          <p:cNvPr id="59" name="Shape 57"/>
          <p:cNvSpPr/>
          <p:nvPr/>
        </p:nvSpPr>
        <p:spPr>
          <a:xfrm>
            <a:off x="6876288" y="1508760"/>
            <a:ext cx="411480" cy="411480"/>
          </a:xfrm>
          <a:prstGeom prst="rect">
            <a:avLst/>
          </a:prstGeom>
          <a:solidFill>
            <a:srgbClr val="64748B">
              <a:alpha val="95000"/>
            </a:srgbClr>
          </a:solidFill>
          <a:ln/>
        </p:spPr>
      </p:sp>
      <p:sp>
        <p:nvSpPr>
          <p:cNvPr id="60" name="Shape 58"/>
          <p:cNvSpPr/>
          <p:nvPr/>
        </p:nvSpPr>
        <p:spPr>
          <a:xfrm>
            <a:off x="7351776" y="1508760"/>
            <a:ext cx="411480" cy="411480"/>
          </a:xfrm>
          <a:prstGeom prst="rect">
            <a:avLst/>
          </a:prstGeom>
          <a:solidFill>
            <a:srgbClr val="64748B">
              <a:alpha val="95000"/>
            </a:srgbClr>
          </a:solidFill>
          <a:ln/>
        </p:spPr>
      </p:sp>
      <p:sp>
        <p:nvSpPr>
          <p:cNvPr id="61" name="Shape 59"/>
          <p:cNvSpPr/>
          <p:nvPr/>
        </p:nvSpPr>
        <p:spPr>
          <a:xfrm>
            <a:off x="7827264" y="1508760"/>
            <a:ext cx="411480" cy="411480"/>
          </a:xfrm>
          <a:prstGeom prst="rect">
            <a:avLst/>
          </a:prstGeom>
          <a:solidFill>
            <a:srgbClr val="64748B">
              <a:alpha val="95000"/>
            </a:srgbClr>
          </a:solidFill>
          <a:ln/>
        </p:spPr>
      </p:sp>
      <p:sp>
        <p:nvSpPr>
          <p:cNvPr id="62" name="Shape 60"/>
          <p:cNvSpPr/>
          <p:nvPr/>
        </p:nvSpPr>
        <p:spPr>
          <a:xfrm>
            <a:off x="8302752" y="1508760"/>
            <a:ext cx="411480" cy="411480"/>
          </a:xfrm>
          <a:prstGeom prst="rect">
            <a:avLst/>
          </a:prstGeom>
          <a:solidFill>
            <a:srgbClr val="64748B">
              <a:alpha val="95000"/>
            </a:srgbClr>
          </a:solidFill>
          <a:ln/>
        </p:spPr>
      </p:sp>
      <p:sp>
        <p:nvSpPr>
          <p:cNvPr id="63" name="Shape 61"/>
          <p:cNvSpPr/>
          <p:nvPr/>
        </p:nvSpPr>
        <p:spPr>
          <a:xfrm>
            <a:off x="6400800" y="2011680"/>
            <a:ext cx="411480" cy="411480"/>
          </a:xfrm>
          <a:prstGeom prst="rect">
            <a:avLst/>
          </a:prstGeom>
          <a:solidFill>
            <a:srgbClr val="64748B">
              <a:alpha val="95000"/>
            </a:srgbClr>
          </a:solidFill>
          <a:ln/>
        </p:spPr>
      </p:sp>
      <p:sp>
        <p:nvSpPr>
          <p:cNvPr id="64" name="Shape 62"/>
          <p:cNvSpPr/>
          <p:nvPr/>
        </p:nvSpPr>
        <p:spPr>
          <a:xfrm>
            <a:off x="6876288" y="2011680"/>
            <a:ext cx="411480" cy="411480"/>
          </a:xfrm>
          <a:prstGeom prst="rect">
            <a:avLst/>
          </a:prstGeom>
          <a:solidFill>
            <a:srgbClr val="64748B">
              <a:alpha val="95000"/>
            </a:srgbClr>
          </a:solidFill>
          <a:ln/>
        </p:spPr>
      </p:sp>
      <p:sp>
        <p:nvSpPr>
          <p:cNvPr id="65" name="Shape 63"/>
          <p:cNvSpPr/>
          <p:nvPr/>
        </p:nvSpPr>
        <p:spPr>
          <a:xfrm>
            <a:off x="7351776" y="2011680"/>
            <a:ext cx="411480" cy="411480"/>
          </a:xfrm>
          <a:prstGeom prst="rect">
            <a:avLst/>
          </a:prstGeom>
          <a:solidFill>
            <a:srgbClr val="64748B">
              <a:alpha val="95000"/>
            </a:srgbClr>
          </a:solidFill>
          <a:ln/>
        </p:spPr>
      </p:sp>
      <p:sp>
        <p:nvSpPr>
          <p:cNvPr id="66" name="Shape 64"/>
          <p:cNvSpPr/>
          <p:nvPr/>
        </p:nvSpPr>
        <p:spPr>
          <a:xfrm>
            <a:off x="7827264" y="2011680"/>
            <a:ext cx="411480" cy="411480"/>
          </a:xfrm>
          <a:prstGeom prst="rect">
            <a:avLst/>
          </a:prstGeom>
          <a:solidFill>
            <a:srgbClr val="64748B">
              <a:alpha val="95000"/>
            </a:srgbClr>
          </a:solidFill>
          <a:ln/>
        </p:spPr>
      </p:sp>
      <p:sp>
        <p:nvSpPr>
          <p:cNvPr id="67" name="Shape 65"/>
          <p:cNvSpPr/>
          <p:nvPr/>
        </p:nvSpPr>
        <p:spPr>
          <a:xfrm>
            <a:off x="8302752" y="2011680"/>
            <a:ext cx="411480" cy="411480"/>
          </a:xfrm>
          <a:prstGeom prst="rect">
            <a:avLst/>
          </a:prstGeom>
          <a:solidFill>
            <a:srgbClr val="64748B">
              <a:alpha val="95000"/>
            </a:srgbClr>
          </a:solidFill>
          <a:ln/>
        </p:spPr>
      </p:sp>
      <p:sp>
        <p:nvSpPr>
          <p:cNvPr id="68" name="Shape 66"/>
          <p:cNvSpPr/>
          <p:nvPr/>
        </p:nvSpPr>
        <p:spPr>
          <a:xfrm>
            <a:off x="6400800" y="2514600"/>
            <a:ext cx="411480" cy="411480"/>
          </a:xfrm>
          <a:prstGeom prst="rect">
            <a:avLst/>
          </a:prstGeom>
          <a:solidFill>
            <a:srgbClr val="64748B">
              <a:alpha val="95000"/>
            </a:srgbClr>
          </a:solidFill>
          <a:ln/>
        </p:spPr>
      </p:sp>
      <p:sp>
        <p:nvSpPr>
          <p:cNvPr id="69" name="Shape 67"/>
          <p:cNvSpPr/>
          <p:nvPr/>
        </p:nvSpPr>
        <p:spPr>
          <a:xfrm>
            <a:off x="6876288" y="2514600"/>
            <a:ext cx="411480" cy="411480"/>
          </a:xfrm>
          <a:prstGeom prst="rect">
            <a:avLst/>
          </a:prstGeom>
          <a:solidFill>
            <a:srgbClr val="64748B">
              <a:alpha val="95000"/>
            </a:srgbClr>
          </a:solidFill>
          <a:ln/>
        </p:spPr>
      </p:sp>
      <p:sp>
        <p:nvSpPr>
          <p:cNvPr id="70" name="Shape 68"/>
          <p:cNvSpPr/>
          <p:nvPr/>
        </p:nvSpPr>
        <p:spPr>
          <a:xfrm>
            <a:off x="7351776" y="2514600"/>
            <a:ext cx="411480" cy="411480"/>
          </a:xfrm>
          <a:prstGeom prst="rect">
            <a:avLst/>
          </a:prstGeom>
          <a:solidFill>
            <a:srgbClr val="64748B">
              <a:alpha val="95000"/>
            </a:srgbClr>
          </a:solidFill>
          <a:ln/>
        </p:spPr>
      </p:sp>
      <p:sp>
        <p:nvSpPr>
          <p:cNvPr id="71" name="Shape 69"/>
          <p:cNvSpPr/>
          <p:nvPr/>
        </p:nvSpPr>
        <p:spPr>
          <a:xfrm>
            <a:off x="7827264" y="2514600"/>
            <a:ext cx="411480" cy="411480"/>
          </a:xfrm>
          <a:prstGeom prst="rect">
            <a:avLst/>
          </a:prstGeom>
          <a:solidFill>
            <a:srgbClr val="64748B">
              <a:alpha val="95000"/>
            </a:srgbClr>
          </a:solidFill>
          <a:ln/>
        </p:spPr>
      </p:sp>
      <p:sp>
        <p:nvSpPr>
          <p:cNvPr id="72" name="Shape 70"/>
          <p:cNvSpPr/>
          <p:nvPr/>
        </p:nvSpPr>
        <p:spPr>
          <a:xfrm>
            <a:off x="8302752" y="2514600"/>
            <a:ext cx="411480" cy="411480"/>
          </a:xfrm>
          <a:prstGeom prst="rect">
            <a:avLst/>
          </a:prstGeom>
          <a:solidFill>
            <a:srgbClr val="64748B">
              <a:alpha val="95000"/>
            </a:srgbClr>
          </a:solidFill>
          <a:ln/>
        </p:spPr>
      </p:sp>
      <p:sp>
        <p:nvSpPr>
          <p:cNvPr id="73" name="Shape 71"/>
          <p:cNvSpPr/>
          <p:nvPr/>
        </p:nvSpPr>
        <p:spPr>
          <a:xfrm>
            <a:off x="6400800" y="3017520"/>
            <a:ext cx="411480" cy="411480"/>
          </a:xfrm>
          <a:prstGeom prst="rect">
            <a:avLst/>
          </a:prstGeom>
          <a:solidFill>
            <a:srgbClr val="64748B">
              <a:alpha val="95000"/>
            </a:srgbClr>
          </a:solidFill>
          <a:ln/>
        </p:spPr>
      </p:sp>
      <p:sp>
        <p:nvSpPr>
          <p:cNvPr id="74" name="Shape 72"/>
          <p:cNvSpPr/>
          <p:nvPr/>
        </p:nvSpPr>
        <p:spPr>
          <a:xfrm>
            <a:off x="6876288" y="3017520"/>
            <a:ext cx="411480" cy="411480"/>
          </a:xfrm>
          <a:prstGeom prst="rect">
            <a:avLst/>
          </a:prstGeom>
          <a:solidFill>
            <a:srgbClr val="64748B">
              <a:alpha val="95000"/>
            </a:srgbClr>
          </a:solidFill>
          <a:ln/>
        </p:spPr>
      </p:sp>
      <p:sp>
        <p:nvSpPr>
          <p:cNvPr id="75" name="Shape 73"/>
          <p:cNvSpPr/>
          <p:nvPr/>
        </p:nvSpPr>
        <p:spPr>
          <a:xfrm>
            <a:off x="7351776" y="3017520"/>
            <a:ext cx="411480" cy="411480"/>
          </a:xfrm>
          <a:prstGeom prst="rect">
            <a:avLst/>
          </a:prstGeom>
          <a:solidFill>
            <a:srgbClr val="64748B">
              <a:alpha val="95000"/>
            </a:srgbClr>
          </a:solidFill>
          <a:ln/>
        </p:spPr>
      </p:sp>
      <p:sp>
        <p:nvSpPr>
          <p:cNvPr id="76" name="Shape 74"/>
          <p:cNvSpPr/>
          <p:nvPr/>
        </p:nvSpPr>
        <p:spPr>
          <a:xfrm>
            <a:off x="7827264" y="3017520"/>
            <a:ext cx="411480" cy="411480"/>
          </a:xfrm>
          <a:prstGeom prst="rect">
            <a:avLst/>
          </a:prstGeom>
          <a:solidFill>
            <a:srgbClr val="64748B">
              <a:alpha val="95000"/>
            </a:srgbClr>
          </a:solidFill>
          <a:ln/>
        </p:spPr>
      </p:sp>
      <p:sp>
        <p:nvSpPr>
          <p:cNvPr id="77" name="Shape 75"/>
          <p:cNvSpPr/>
          <p:nvPr/>
        </p:nvSpPr>
        <p:spPr>
          <a:xfrm>
            <a:off x="8302752" y="3017520"/>
            <a:ext cx="411480" cy="411480"/>
          </a:xfrm>
          <a:prstGeom prst="rect">
            <a:avLst/>
          </a:prstGeom>
          <a:solidFill>
            <a:srgbClr val="64748B">
              <a:alpha val="95000"/>
            </a:srgbClr>
          </a:solidFill>
          <a:ln/>
        </p:spPr>
      </p:sp>
      <p:sp>
        <p:nvSpPr>
          <p:cNvPr id="78" name="Text 76"/>
          <p:cNvSpPr/>
          <p:nvPr/>
        </p:nvSpPr>
        <p:spPr>
          <a:xfrm>
            <a:off x="6309360" y="3566160"/>
            <a:ext cx="2560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압축 없음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완벽한 재구성</a:t>
            </a:r>
            <a:endParaRPr lang="en-US" sz="1100" dirty="0"/>
          </a:p>
        </p:txBody>
      </p:sp>
      <p:sp>
        <p:nvSpPr>
          <p:cNvPr id="79" name="Text 77"/>
          <p:cNvSpPr/>
          <p:nvPr/>
        </p:nvSpPr>
        <p:spPr>
          <a:xfrm>
            <a:off x="6309360" y="425196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품질: 완벽</a:t>
            </a:r>
            <a:endParaRPr lang="en-US" sz="1100" dirty="0"/>
          </a:p>
        </p:txBody>
      </p:sp>
      <p:sp>
        <p:nvSpPr>
          <p:cNvPr id="80" name="Shape 78"/>
          <p:cNvSpPr/>
          <p:nvPr/>
        </p:nvSpPr>
        <p:spPr>
          <a:xfrm>
            <a:off x="365760" y="4663440"/>
            <a:ext cx="8412480" cy="384048"/>
          </a:xfrm>
          <a:prstGeom prst="rect">
            <a:avLst/>
          </a:prstGeom>
          <a:solidFill>
            <a:srgbClr val="1B4F72"/>
          </a:solidFill>
          <a:ln/>
        </p:spPr>
      </p:sp>
      <p:sp>
        <p:nvSpPr>
          <p:cNvPr id="81" name="Text 79"/>
          <p:cNvSpPr/>
          <p:nvPr/>
        </p:nvSpPr>
        <p:spPr>
          <a:xfrm>
            <a:off x="457200" y="4700016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병목 레이어(Bottleneck Layer): 작은 z → 핵심 특징만 압축 | 큰 z → 세부 정보도 보존 (압축↓)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BF5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73152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변분 오토인코더 (VAE) — 핵심 아이디어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65760" y="59436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전통 AE vs. VAE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65760" y="960120"/>
            <a:ext cx="3840480" cy="4023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960120"/>
            <a:ext cx="3840480" cy="347472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978408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전통 오토인코더 (AE)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02920" y="1417320"/>
            <a:ext cx="356616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 = 결정론적(deterministic) 벡터
</a:t>
            </a:r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고정된 입력 → 항상 같은 z
</a:t>
            </a:r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z 공간에서 샘플링 불가
</a:t>
            </a:r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새 데이터 생성 어려움
</a:t>
            </a:r>
            <a:pPr indent="0" marL="0">
              <a:buNone/>
            </a:pPr>
            <a:r>
              <a:rPr lang="en-US" sz="115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인코더:</a:t>
            </a:r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x → z (직접 출력)
</a:t>
            </a:r>
            <a:pPr indent="0" marL="0">
              <a:buNone/>
            </a:pPr>
            <a:r>
              <a:rPr lang="en-US" sz="115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문제:</a:t>
            </a:r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잠재 공간이 불연속적이고 구멍(gap)이 생길 수 있음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892040" y="960120"/>
            <a:ext cx="3840480" cy="4023360"/>
          </a:xfrm>
          <a:prstGeom prst="rect">
            <a:avLst/>
          </a:prstGeom>
          <a:solidFill>
            <a:srgbClr val="FFFFFF"/>
          </a:solidFill>
          <a:ln w="25400">
            <a:solidFill>
              <a:srgbClr val="00B4D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892040" y="960120"/>
            <a:ext cx="3840480" cy="347472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11" name="Text 9"/>
          <p:cNvSpPr/>
          <p:nvPr/>
        </p:nvSpPr>
        <p:spPr>
          <a:xfrm>
            <a:off x="4983480" y="978408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변분 오토인코더 (VAE) ✦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029200" y="1417320"/>
            <a:ext cx="356616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 = 확률적(stochastic) 분포에서 샘플링
</a:t>
            </a:r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인코더 → μ(평균), σ(표준편차) 출력
</a:t>
            </a:r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z ~ N(μ, σ²) 에서 샘플링
</a:t>
            </a:r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다양한 z → 다양한 출력 생성 가능
</a:t>
            </a:r>
            <a:pPr indent="0" marL="0">
              <a:buNone/>
            </a:pPr>
            <a:r>
              <a:rPr lang="en-US" sz="115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인코더:</a:t>
            </a:r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x → μ, σ → z (확률적)
</a:t>
            </a:r>
            <a:pPr indent="0" marL="0">
              <a:buNone/>
            </a:pPr>
            <a:r>
              <a:rPr lang="en-US" sz="115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장점:</a:t>
            </a:r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연속적이고 완전한 잠재 공간 → 보간 및 새 샘플 생성 가능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4251960" y="2560320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73152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VAE 최적화 — 손실 함수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594360"/>
            <a:ext cx="1143000" cy="1188720"/>
          </a:xfrm>
          <a:prstGeom prst="rect">
            <a:avLst/>
          </a:prstGeom>
          <a:solidFill>
            <a:srgbClr val="1E4A6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658368"/>
            <a:ext cx="1051560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(입력)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1554480" y="594360"/>
            <a:ext cx="1143000" cy="1188720"/>
          </a:xfrm>
          <a:prstGeom prst="rect">
            <a:avLst/>
          </a:prstGeom>
          <a:solidFill>
            <a:srgbClr val="166534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600200" y="658368"/>
            <a:ext cx="1051560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인코더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q_φ(z|x)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063240" y="594360"/>
            <a:ext cx="1143000" cy="1188720"/>
          </a:xfrm>
          <a:prstGeom prst="rect">
            <a:avLst/>
          </a:prstGeom>
          <a:solidFill>
            <a:srgbClr val="7C2D1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108960" y="658368"/>
            <a:ext cx="1051560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μ, σ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z~N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572000" y="594360"/>
            <a:ext cx="1143000" cy="1188720"/>
          </a:xfrm>
          <a:prstGeom prst="rect">
            <a:avLst/>
          </a:prstGeom>
          <a:solidFill>
            <a:srgbClr val="5B21B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17720" y="658368"/>
            <a:ext cx="1051560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디코더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p_θ(x|z)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080760" y="594360"/>
            <a:ext cx="1143000" cy="1188720"/>
          </a:xfrm>
          <a:prstGeom prst="rect">
            <a:avLst/>
          </a:prstGeom>
          <a:solidFill>
            <a:srgbClr val="1E4A6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126480" y="658368"/>
            <a:ext cx="1051560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x̂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(재구성)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1417320" y="1051560"/>
            <a:ext cx="155448" cy="73152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15" name="Shape 13"/>
          <p:cNvSpPr/>
          <p:nvPr/>
        </p:nvSpPr>
        <p:spPr>
          <a:xfrm>
            <a:off x="2788920" y="1051560"/>
            <a:ext cx="155448" cy="73152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16" name="Shape 14"/>
          <p:cNvSpPr/>
          <p:nvPr/>
        </p:nvSpPr>
        <p:spPr>
          <a:xfrm>
            <a:off x="4251960" y="1051560"/>
            <a:ext cx="155448" cy="73152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17" name="Shape 15"/>
          <p:cNvSpPr/>
          <p:nvPr/>
        </p:nvSpPr>
        <p:spPr>
          <a:xfrm>
            <a:off x="5760720" y="1051560"/>
            <a:ext cx="155448" cy="73152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18" name="Shape 16"/>
          <p:cNvSpPr/>
          <p:nvPr/>
        </p:nvSpPr>
        <p:spPr>
          <a:xfrm>
            <a:off x="274320" y="1920240"/>
            <a:ext cx="8595360" cy="731520"/>
          </a:xfrm>
          <a:prstGeom prst="rect">
            <a:avLst/>
          </a:prstGeom>
          <a:solidFill>
            <a:srgbClr val="0A2540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2029968"/>
            <a:ext cx="8229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ℒ(φ, θ, x)  =  (재구성 손실)  +  (정규화 항)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274320" y="2788920"/>
            <a:ext cx="4114800" cy="2194560"/>
          </a:xfrm>
          <a:prstGeom prst="rect">
            <a:avLst/>
          </a:prstGeom>
          <a:solidFill>
            <a:srgbClr val="0A2540"/>
          </a:solidFill>
          <a:ln w="25400">
            <a:solidFill>
              <a:srgbClr val="16653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11480" y="2834640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재구성 손실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11480" y="3154680"/>
            <a:ext cx="38404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입력 x와 재구성 x̂ 의 차이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log p_θ(x|z)  또는  ‖x − x̂‖²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인코더·디코더가 원본을 충실히 복원하도록 학습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754880" y="2788920"/>
            <a:ext cx="4114800" cy="2194560"/>
          </a:xfrm>
          <a:prstGeom prst="rect">
            <a:avLst/>
          </a:prstGeom>
          <a:solidFill>
            <a:srgbClr val="0A2540"/>
          </a:solidFill>
          <a:ln w="25400">
            <a:solidFill>
              <a:srgbClr val="F9731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92040" y="2834640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 정규화 항 (KL Divergence)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4892040" y="3154680"/>
            <a:ext cx="38404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추론된 분포 q_φ(z|x)와 사전 분포 p(z) 사이의 거리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D_KL(q_φ(z|x) ‖ p(z))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= -½ Σ (σ_j + μ_j² − 1 − log σ_j)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잠재 공간이 N(0,1)에 가깝도록 정규화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EBF5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B4F7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73152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왜 정규화가 필요한가? — 연속성 &amp; 완전성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20040" y="640080"/>
            <a:ext cx="411480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640080"/>
            <a:ext cx="4114800" cy="347472"/>
          </a:xfrm>
          <a:prstGeom prst="rect">
            <a:avLst/>
          </a:prstGeom>
          <a:solidFill>
            <a:srgbClr val="1B4F72"/>
          </a:solidFill>
          <a:ln/>
        </p:spPr>
      </p:sp>
      <p:sp>
        <p:nvSpPr>
          <p:cNvPr id="6" name="Text 4"/>
          <p:cNvSpPr/>
          <p:nvPr/>
        </p:nvSpPr>
        <p:spPr>
          <a:xfrm>
            <a:off x="411480" y="667512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연속성 (Continuity)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457200" y="1051560"/>
            <a:ext cx="38404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잠재 공간에서 가까운 두 점은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원본 데이터 공간에서도 유사해야 함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z₁ ≈ z₂  →  decode(z₁) ≈ decode(z₂)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709160" y="640080"/>
            <a:ext cx="411480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09160" y="640080"/>
            <a:ext cx="4114800" cy="347472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10" name="Text 8"/>
          <p:cNvSpPr/>
          <p:nvPr/>
        </p:nvSpPr>
        <p:spPr>
          <a:xfrm>
            <a:off x="4800600" y="667512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 완전성 (Completeness)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4846320" y="1051560"/>
            <a:ext cx="38404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잠재 공간의 어느 점에서 샘플링해도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의미 있는 데이터가 생성되어야 함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임의의 z에서도 그럴듯한 출력 필요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20040" y="2971800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정규화 없음 (문제)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320040" y="3310128"/>
            <a:ext cx="4023360" cy="1554480"/>
          </a:xfrm>
          <a:prstGeom prst="rect">
            <a:avLst/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41832" y="3520440"/>
            <a:ext cx="201168" cy="201168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15" name="Shape 13"/>
          <p:cNvSpPr/>
          <p:nvPr/>
        </p:nvSpPr>
        <p:spPr>
          <a:xfrm>
            <a:off x="1485900" y="4251960"/>
            <a:ext cx="201168" cy="201168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16" name="Shape 14"/>
          <p:cNvSpPr/>
          <p:nvPr/>
        </p:nvSpPr>
        <p:spPr>
          <a:xfrm>
            <a:off x="1952244" y="3429000"/>
            <a:ext cx="201168" cy="201168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17" name="Shape 15"/>
          <p:cNvSpPr/>
          <p:nvPr/>
        </p:nvSpPr>
        <p:spPr>
          <a:xfrm>
            <a:off x="2807208" y="4069080"/>
            <a:ext cx="201168" cy="201168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18" name="Shape 16"/>
          <p:cNvSpPr/>
          <p:nvPr/>
        </p:nvSpPr>
        <p:spPr>
          <a:xfrm>
            <a:off x="3273552" y="3611880"/>
            <a:ext cx="201168" cy="201168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19" name="Text 17"/>
          <p:cNvSpPr/>
          <p:nvPr/>
        </p:nvSpPr>
        <p:spPr>
          <a:xfrm>
            <a:off x="411480" y="448056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점들이 산재 → 갭 발생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잠재 공간 불연속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4709160" y="2971800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정규화 있음 (Normal Prior)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709160" y="3310128"/>
            <a:ext cx="4023360" cy="1554480"/>
          </a:xfrm>
          <a:prstGeom prst="rect">
            <a:avLst/>
          </a:prstGeom>
          <a:solidFill>
            <a:srgbClr val="F0FDF4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309006" y="3611880"/>
            <a:ext cx="201168" cy="201168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23" name="Shape 21"/>
          <p:cNvSpPr/>
          <p:nvPr/>
        </p:nvSpPr>
        <p:spPr>
          <a:xfrm>
            <a:off x="5608930" y="3886200"/>
            <a:ext cx="201168" cy="201168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24" name="Shape 22"/>
          <p:cNvSpPr/>
          <p:nvPr/>
        </p:nvSpPr>
        <p:spPr>
          <a:xfrm>
            <a:off x="5983834" y="3520440"/>
            <a:ext cx="201168" cy="201168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25" name="Shape 23"/>
          <p:cNvSpPr/>
          <p:nvPr/>
        </p:nvSpPr>
        <p:spPr>
          <a:xfrm>
            <a:off x="6208776" y="3977640"/>
            <a:ext cx="201168" cy="201168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26" name="Shape 24"/>
          <p:cNvSpPr/>
          <p:nvPr/>
        </p:nvSpPr>
        <p:spPr>
          <a:xfrm>
            <a:off x="6583680" y="3703320"/>
            <a:ext cx="201168" cy="201168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27" name="Shape 25"/>
          <p:cNvSpPr/>
          <p:nvPr/>
        </p:nvSpPr>
        <p:spPr>
          <a:xfrm>
            <a:off x="6958584" y="3977640"/>
            <a:ext cx="201168" cy="201168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28" name="Shape 26"/>
          <p:cNvSpPr/>
          <p:nvPr/>
        </p:nvSpPr>
        <p:spPr>
          <a:xfrm>
            <a:off x="7183526" y="3611880"/>
            <a:ext cx="201168" cy="201168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29" name="Text 27"/>
          <p:cNvSpPr/>
          <p:nvPr/>
        </p:nvSpPr>
        <p:spPr>
          <a:xfrm>
            <a:off x="4800600" y="448056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p(z) = N(0,1) → 중앙 집중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연속적·완전한 잠재 공간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90E0E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73152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재매개변수화 트릭 (Reparameterization Trick)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65760" y="640080"/>
            <a:ext cx="8412480" cy="685800"/>
          </a:xfrm>
          <a:prstGeom prst="rect">
            <a:avLst/>
          </a:prstGeom>
          <a:solidFill>
            <a:srgbClr val="1A0A0A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694944"/>
            <a:ext cx="813816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문제: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샘플링 연산 z ~ N(μ, σ²) 은 미분 불가능 → 역전파(Backpropagation) 불가능!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1463040"/>
            <a:ext cx="8412480" cy="685800"/>
          </a:xfrm>
          <a:prstGeom prst="rect">
            <a:avLst/>
          </a:prstGeom>
          <a:solidFill>
            <a:srgbClr val="0A1A0A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517904"/>
            <a:ext cx="813816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해결: </a:t>
            </a:r>
            <a:pPr indent="0" marL="0">
              <a:buNone/>
            </a:pPr>
            <a:r>
              <a:rPr lang="en-US" sz="135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랜덤성을 분리!   z = μ + σ ⊙ ε,   ε ~ N(0,1)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457200" y="22860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기존 방식 (역전파 불가)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731520" y="2651760"/>
            <a:ext cx="640080" cy="457200"/>
          </a:xfrm>
          <a:prstGeom prst="ellipse">
            <a:avLst/>
          </a:prstGeom>
          <a:solidFill>
            <a:srgbClr val="1E4A6E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265176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φ,x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1645920" y="2651760"/>
            <a:ext cx="731520" cy="457200"/>
          </a:xfrm>
          <a:prstGeom prst="ellipse">
            <a:avLst/>
          </a:prstGeom>
          <a:solidFill>
            <a:srgbClr val="7C2D12"/>
          </a:solidFill>
          <a:ln w="25400">
            <a:solidFill>
              <a:srgbClr val="EF444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645920" y="265176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z~q_φ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2651760" y="2651760"/>
            <a:ext cx="548640" cy="457200"/>
          </a:xfrm>
          <a:prstGeom prst="ellipse">
            <a:avLst/>
          </a:prstGeom>
          <a:solidFill>
            <a:srgbClr val="166534"/>
          </a:solidFill>
          <a:ln/>
        </p:spPr>
      </p:sp>
      <p:sp>
        <p:nvSpPr>
          <p:cNvPr id="14" name="Text 12"/>
          <p:cNvSpPr/>
          <p:nvPr/>
        </p:nvSpPr>
        <p:spPr>
          <a:xfrm>
            <a:off x="2651760" y="265176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f(z)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1371600" y="3246120"/>
            <a:ext cx="1188720" cy="274320"/>
          </a:xfrm>
          <a:prstGeom prst="rect">
            <a:avLst/>
          </a:prstGeom>
          <a:solidFill>
            <a:srgbClr val="EF4444">
              <a:alpha val="30000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1371600" y="3264408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역전파 불가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572000" y="228600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재매개변수화 방식 (역전파 가능)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754880" y="2651760"/>
            <a:ext cx="640080" cy="457200"/>
          </a:xfrm>
          <a:prstGeom prst="ellipse">
            <a:avLst/>
          </a:prstGeom>
          <a:solidFill>
            <a:srgbClr val="1E4A6E"/>
          </a:solidFill>
          <a:ln/>
        </p:spPr>
      </p:sp>
      <p:sp>
        <p:nvSpPr>
          <p:cNvPr id="19" name="Text 17"/>
          <p:cNvSpPr/>
          <p:nvPr/>
        </p:nvSpPr>
        <p:spPr>
          <a:xfrm>
            <a:off x="4754880" y="265176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φ,x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5577840" y="2651760"/>
            <a:ext cx="731520" cy="457200"/>
          </a:xfrm>
          <a:prstGeom prst="ellipse">
            <a:avLst/>
          </a:prstGeom>
          <a:solidFill>
            <a:srgbClr val="1E4A6E"/>
          </a:solidFill>
          <a:ln w="25400">
            <a:solidFill>
              <a:srgbClr val="22C55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532120" y="2651760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z=g(φ,x,ε)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6583680" y="2651760"/>
            <a:ext cx="548640" cy="457200"/>
          </a:xfrm>
          <a:prstGeom prst="ellipse">
            <a:avLst/>
          </a:prstGeom>
          <a:solidFill>
            <a:srgbClr val="166534"/>
          </a:solidFill>
          <a:ln/>
        </p:spPr>
      </p:sp>
      <p:sp>
        <p:nvSpPr>
          <p:cNvPr id="23" name="Text 21"/>
          <p:cNvSpPr/>
          <p:nvPr/>
        </p:nvSpPr>
        <p:spPr>
          <a:xfrm>
            <a:off x="6583680" y="265176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f(z)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7315200" y="2788920"/>
            <a:ext cx="640080" cy="320040"/>
          </a:xfrm>
          <a:prstGeom prst="ellipse">
            <a:avLst/>
          </a:prstGeom>
          <a:solidFill>
            <a:srgbClr val="5B21B6"/>
          </a:solidFill>
          <a:ln/>
        </p:spPr>
      </p:sp>
      <p:sp>
        <p:nvSpPr>
          <p:cNvPr id="25" name="Text 23"/>
          <p:cNvSpPr/>
          <p:nvPr/>
        </p:nvSpPr>
        <p:spPr>
          <a:xfrm>
            <a:off x="7269480" y="2788920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ε~N(0,1)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5394960" y="3246120"/>
            <a:ext cx="1371600" cy="274320"/>
          </a:xfrm>
          <a:prstGeom prst="rect">
            <a:avLst/>
          </a:prstGeom>
          <a:solidFill>
            <a:srgbClr val="22C55E">
              <a:alpha val="30000"/>
            </a:srgbClr>
          </a:solidFill>
          <a:ln/>
        </p:spPr>
      </p:sp>
      <p:sp>
        <p:nvSpPr>
          <p:cNvPr id="27" name="Text 25"/>
          <p:cNvSpPr/>
          <p:nvPr/>
        </p:nvSpPr>
        <p:spPr>
          <a:xfrm>
            <a:off x="5394960" y="3264408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∂f/∂φ 계산 가능!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365760" y="3794760"/>
            <a:ext cx="8412480" cy="1234440"/>
          </a:xfrm>
          <a:prstGeom prst="rect">
            <a:avLst/>
          </a:prstGeom>
          <a:solidFill>
            <a:srgbClr val="0A2540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48640" y="384048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핵심 아이디어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548640" y="4133088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μ와 σ는 결정론적 신경망 파라미터 → 역전파 가능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ε은 표준 정규분포에서 고정된 상수로 샘플링 → 랜덤성 분리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 덕분에 VAE 전체를 end-to-end로 학습 가능!</a:t>
            </a:r>
            <a:endParaRPr lang="en-US" sz="11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EBF5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B4F7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73152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VAE의 해석 가능한 잠재 변수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65760" y="59436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학습 완료 후: 잠재 변수를 하나씩 변화시키면 어떤 특징이 인코딩되었는지 확인 가능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365760" y="100584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예시: 얼굴 데이터셋 훈련 VAE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1371600"/>
            <a:ext cx="822960" cy="1005840"/>
          </a:xfrm>
          <a:prstGeom prst="rect">
            <a:avLst/>
          </a:prstGeom>
          <a:solidFill>
            <a:srgbClr val="B4B4B4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02920" y="1417320"/>
            <a:ext cx="548640" cy="685800"/>
          </a:xfrm>
          <a:prstGeom prst="ellipse">
            <a:avLst/>
          </a:prstGeom>
          <a:solidFill>
            <a:srgbClr val="D4A08A">
              <a:alpha val="8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566928" y="1554480"/>
            <a:ext cx="128016" cy="91440"/>
          </a:xfrm>
          <a:prstGeom prst="ellipse">
            <a:avLst/>
          </a:prstGeom>
          <a:solidFill>
            <a:srgbClr val="4A2C17"/>
          </a:solidFill>
          <a:ln/>
        </p:spPr>
      </p:sp>
      <p:sp>
        <p:nvSpPr>
          <p:cNvPr id="9" name="Shape 7"/>
          <p:cNvSpPr/>
          <p:nvPr/>
        </p:nvSpPr>
        <p:spPr>
          <a:xfrm>
            <a:off x="841248" y="1554480"/>
            <a:ext cx="128016" cy="91440"/>
          </a:xfrm>
          <a:prstGeom prst="ellipse">
            <a:avLst/>
          </a:prstGeom>
          <a:solidFill>
            <a:srgbClr val="4A2C17"/>
          </a:solidFill>
          <a:ln/>
        </p:spPr>
      </p:sp>
      <p:sp>
        <p:nvSpPr>
          <p:cNvPr id="10" name="Shape 8"/>
          <p:cNvSpPr/>
          <p:nvPr/>
        </p:nvSpPr>
        <p:spPr>
          <a:xfrm>
            <a:off x="1298448" y="1371600"/>
            <a:ext cx="822960" cy="1005840"/>
          </a:xfrm>
          <a:prstGeom prst="rect">
            <a:avLst/>
          </a:prstGeom>
          <a:solidFill>
            <a:srgbClr val="AAAAAA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435608" y="1417320"/>
            <a:ext cx="548640" cy="685800"/>
          </a:xfrm>
          <a:prstGeom prst="ellipse">
            <a:avLst/>
          </a:prstGeom>
          <a:solidFill>
            <a:srgbClr val="D4A08A">
              <a:alpha val="80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1499616" y="1554480"/>
            <a:ext cx="128016" cy="91440"/>
          </a:xfrm>
          <a:prstGeom prst="ellipse">
            <a:avLst/>
          </a:prstGeom>
          <a:solidFill>
            <a:srgbClr val="4A2C17"/>
          </a:solidFill>
          <a:ln/>
        </p:spPr>
      </p:sp>
      <p:sp>
        <p:nvSpPr>
          <p:cNvPr id="13" name="Shape 11"/>
          <p:cNvSpPr/>
          <p:nvPr/>
        </p:nvSpPr>
        <p:spPr>
          <a:xfrm>
            <a:off x="1773936" y="1554480"/>
            <a:ext cx="128016" cy="91440"/>
          </a:xfrm>
          <a:prstGeom prst="ellipse">
            <a:avLst/>
          </a:prstGeom>
          <a:solidFill>
            <a:srgbClr val="4A2C17"/>
          </a:solidFill>
          <a:ln/>
        </p:spPr>
      </p:sp>
      <p:sp>
        <p:nvSpPr>
          <p:cNvPr id="14" name="Shape 12"/>
          <p:cNvSpPr/>
          <p:nvPr/>
        </p:nvSpPr>
        <p:spPr>
          <a:xfrm>
            <a:off x="2231136" y="1371600"/>
            <a:ext cx="822960" cy="1005840"/>
          </a:xfrm>
          <a:prstGeom prst="rect">
            <a:avLst/>
          </a:prstGeom>
          <a:solidFill>
            <a:srgbClr val="A0A0A0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368296" y="1417320"/>
            <a:ext cx="548640" cy="685800"/>
          </a:xfrm>
          <a:prstGeom prst="ellipse">
            <a:avLst/>
          </a:prstGeom>
          <a:solidFill>
            <a:srgbClr val="D4A08A">
              <a:alpha val="80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2432304" y="1554480"/>
            <a:ext cx="128016" cy="91440"/>
          </a:xfrm>
          <a:prstGeom prst="ellipse">
            <a:avLst/>
          </a:prstGeom>
          <a:solidFill>
            <a:srgbClr val="4A2C17"/>
          </a:solidFill>
          <a:ln/>
        </p:spPr>
      </p:sp>
      <p:sp>
        <p:nvSpPr>
          <p:cNvPr id="17" name="Shape 15"/>
          <p:cNvSpPr/>
          <p:nvPr/>
        </p:nvSpPr>
        <p:spPr>
          <a:xfrm>
            <a:off x="2706624" y="1554480"/>
            <a:ext cx="128016" cy="91440"/>
          </a:xfrm>
          <a:prstGeom prst="ellipse">
            <a:avLst/>
          </a:prstGeom>
          <a:solidFill>
            <a:srgbClr val="4A2C17"/>
          </a:solidFill>
          <a:ln/>
        </p:spPr>
      </p:sp>
      <p:sp>
        <p:nvSpPr>
          <p:cNvPr id="18" name="Shape 16"/>
          <p:cNvSpPr/>
          <p:nvPr/>
        </p:nvSpPr>
        <p:spPr>
          <a:xfrm>
            <a:off x="3163824" y="1371600"/>
            <a:ext cx="822960" cy="1005840"/>
          </a:xfrm>
          <a:prstGeom prst="rect">
            <a:avLst/>
          </a:prstGeom>
          <a:solidFill>
            <a:srgbClr val="969696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300984" y="1417320"/>
            <a:ext cx="548640" cy="685800"/>
          </a:xfrm>
          <a:prstGeom prst="ellipse">
            <a:avLst/>
          </a:prstGeom>
          <a:solidFill>
            <a:srgbClr val="D4A08A">
              <a:alpha val="80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3364992" y="1554480"/>
            <a:ext cx="128016" cy="91440"/>
          </a:xfrm>
          <a:prstGeom prst="ellipse">
            <a:avLst/>
          </a:prstGeom>
          <a:solidFill>
            <a:srgbClr val="4A2C17"/>
          </a:solidFill>
          <a:ln/>
        </p:spPr>
      </p:sp>
      <p:sp>
        <p:nvSpPr>
          <p:cNvPr id="21" name="Shape 19"/>
          <p:cNvSpPr/>
          <p:nvPr/>
        </p:nvSpPr>
        <p:spPr>
          <a:xfrm>
            <a:off x="3639312" y="1554480"/>
            <a:ext cx="128016" cy="91440"/>
          </a:xfrm>
          <a:prstGeom prst="ellipse">
            <a:avLst/>
          </a:prstGeom>
          <a:solidFill>
            <a:srgbClr val="4A2C17"/>
          </a:solidFill>
          <a:ln/>
        </p:spPr>
      </p:sp>
      <p:sp>
        <p:nvSpPr>
          <p:cNvPr id="22" name="Shape 20"/>
          <p:cNvSpPr/>
          <p:nvPr/>
        </p:nvSpPr>
        <p:spPr>
          <a:xfrm>
            <a:off x="4096512" y="1371600"/>
            <a:ext cx="822960" cy="1005840"/>
          </a:xfrm>
          <a:prstGeom prst="rect">
            <a:avLst/>
          </a:prstGeom>
          <a:solidFill>
            <a:srgbClr val="8C8C8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233672" y="1417320"/>
            <a:ext cx="548640" cy="685800"/>
          </a:xfrm>
          <a:prstGeom prst="ellipse">
            <a:avLst/>
          </a:prstGeom>
          <a:solidFill>
            <a:srgbClr val="D4A08A">
              <a:alpha val="80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4297680" y="1554480"/>
            <a:ext cx="128016" cy="91440"/>
          </a:xfrm>
          <a:prstGeom prst="ellipse">
            <a:avLst/>
          </a:prstGeom>
          <a:solidFill>
            <a:srgbClr val="4A2C17"/>
          </a:solidFill>
          <a:ln/>
        </p:spPr>
      </p:sp>
      <p:sp>
        <p:nvSpPr>
          <p:cNvPr id="25" name="Shape 23"/>
          <p:cNvSpPr/>
          <p:nvPr/>
        </p:nvSpPr>
        <p:spPr>
          <a:xfrm>
            <a:off x="4572000" y="1554480"/>
            <a:ext cx="128016" cy="91440"/>
          </a:xfrm>
          <a:prstGeom prst="ellipse">
            <a:avLst/>
          </a:prstGeom>
          <a:solidFill>
            <a:srgbClr val="4A2C17"/>
          </a:solidFill>
          <a:ln/>
        </p:spPr>
      </p:sp>
      <p:sp>
        <p:nvSpPr>
          <p:cNvPr id="26" name="Shape 24"/>
          <p:cNvSpPr/>
          <p:nvPr/>
        </p:nvSpPr>
        <p:spPr>
          <a:xfrm>
            <a:off x="5029200" y="1371600"/>
            <a:ext cx="822960" cy="1005840"/>
          </a:xfrm>
          <a:prstGeom prst="rect">
            <a:avLst/>
          </a:prstGeom>
          <a:solidFill>
            <a:srgbClr val="828282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166360" y="1417320"/>
            <a:ext cx="548640" cy="685800"/>
          </a:xfrm>
          <a:prstGeom prst="ellipse">
            <a:avLst/>
          </a:prstGeom>
          <a:solidFill>
            <a:srgbClr val="D4A08A">
              <a:alpha val="80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5230368" y="1554480"/>
            <a:ext cx="128016" cy="91440"/>
          </a:xfrm>
          <a:prstGeom prst="ellipse">
            <a:avLst/>
          </a:prstGeom>
          <a:solidFill>
            <a:srgbClr val="4A2C17"/>
          </a:solidFill>
          <a:ln/>
        </p:spPr>
      </p:sp>
      <p:sp>
        <p:nvSpPr>
          <p:cNvPr id="29" name="Shape 27"/>
          <p:cNvSpPr/>
          <p:nvPr/>
        </p:nvSpPr>
        <p:spPr>
          <a:xfrm>
            <a:off x="5504688" y="1554480"/>
            <a:ext cx="128016" cy="91440"/>
          </a:xfrm>
          <a:prstGeom prst="ellipse">
            <a:avLst/>
          </a:prstGeom>
          <a:solidFill>
            <a:srgbClr val="4A2C17"/>
          </a:solidFill>
          <a:ln/>
        </p:spPr>
      </p:sp>
      <p:sp>
        <p:nvSpPr>
          <p:cNvPr id="30" name="Shape 28"/>
          <p:cNvSpPr/>
          <p:nvPr/>
        </p:nvSpPr>
        <p:spPr>
          <a:xfrm>
            <a:off x="5961888" y="1371600"/>
            <a:ext cx="822960" cy="1005840"/>
          </a:xfrm>
          <a:prstGeom prst="rect">
            <a:avLst/>
          </a:prstGeom>
          <a:solidFill>
            <a:srgbClr val="787878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099048" y="1417320"/>
            <a:ext cx="548640" cy="685800"/>
          </a:xfrm>
          <a:prstGeom prst="ellipse">
            <a:avLst/>
          </a:prstGeom>
          <a:solidFill>
            <a:srgbClr val="D4A08A">
              <a:alpha val="80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6163056" y="1554480"/>
            <a:ext cx="128016" cy="91440"/>
          </a:xfrm>
          <a:prstGeom prst="ellipse">
            <a:avLst/>
          </a:prstGeom>
          <a:solidFill>
            <a:srgbClr val="4A2C17"/>
          </a:solidFill>
          <a:ln/>
        </p:spPr>
      </p:sp>
      <p:sp>
        <p:nvSpPr>
          <p:cNvPr id="33" name="Shape 31"/>
          <p:cNvSpPr/>
          <p:nvPr/>
        </p:nvSpPr>
        <p:spPr>
          <a:xfrm>
            <a:off x="6437376" y="1554480"/>
            <a:ext cx="128016" cy="91440"/>
          </a:xfrm>
          <a:prstGeom prst="ellipse">
            <a:avLst/>
          </a:prstGeom>
          <a:solidFill>
            <a:srgbClr val="4A2C17"/>
          </a:solidFill>
          <a:ln/>
        </p:spPr>
      </p:sp>
      <p:sp>
        <p:nvSpPr>
          <p:cNvPr id="34" name="Shape 32"/>
          <p:cNvSpPr/>
          <p:nvPr/>
        </p:nvSpPr>
        <p:spPr>
          <a:xfrm>
            <a:off x="6894576" y="1371600"/>
            <a:ext cx="822960" cy="1005840"/>
          </a:xfrm>
          <a:prstGeom prst="rect">
            <a:avLst/>
          </a:prstGeom>
          <a:solidFill>
            <a:srgbClr val="6E6E6E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7031736" y="1417320"/>
            <a:ext cx="548640" cy="685800"/>
          </a:xfrm>
          <a:prstGeom prst="ellipse">
            <a:avLst/>
          </a:prstGeom>
          <a:solidFill>
            <a:srgbClr val="D4A08A">
              <a:alpha val="80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7095744" y="1554480"/>
            <a:ext cx="128016" cy="91440"/>
          </a:xfrm>
          <a:prstGeom prst="ellipse">
            <a:avLst/>
          </a:prstGeom>
          <a:solidFill>
            <a:srgbClr val="4A2C17"/>
          </a:solidFill>
          <a:ln/>
        </p:spPr>
      </p:sp>
      <p:sp>
        <p:nvSpPr>
          <p:cNvPr id="37" name="Shape 35"/>
          <p:cNvSpPr/>
          <p:nvPr/>
        </p:nvSpPr>
        <p:spPr>
          <a:xfrm>
            <a:off x="7370064" y="1554480"/>
            <a:ext cx="128016" cy="91440"/>
          </a:xfrm>
          <a:prstGeom prst="ellipse">
            <a:avLst/>
          </a:prstGeom>
          <a:solidFill>
            <a:srgbClr val="4A2C17"/>
          </a:solidFill>
          <a:ln/>
        </p:spPr>
      </p:sp>
      <p:sp>
        <p:nvSpPr>
          <p:cNvPr id="38" name="Shape 36"/>
          <p:cNvSpPr/>
          <p:nvPr/>
        </p:nvSpPr>
        <p:spPr>
          <a:xfrm>
            <a:off x="7827264" y="1371600"/>
            <a:ext cx="822960" cy="1005840"/>
          </a:xfrm>
          <a:prstGeom prst="rect">
            <a:avLst/>
          </a:prstGeom>
          <a:solidFill>
            <a:srgbClr val="646464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7964424" y="1417320"/>
            <a:ext cx="548640" cy="685800"/>
          </a:xfrm>
          <a:prstGeom prst="ellipse">
            <a:avLst/>
          </a:prstGeom>
          <a:solidFill>
            <a:srgbClr val="D4A08A">
              <a:alpha val="80000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8028432" y="1554480"/>
            <a:ext cx="128016" cy="91440"/>
          </a:xfrm>
          <a:prstGeom prst="ellipse">
            <a:avLst/>
          </a:prstGeom>
          <a:solidFill>
            <a:srgbClr val="4A2C17"/>
          </a:solidFill>
          <a:ln/>
        </p:spPr>
      </p:sp>
      <p:sp>
        <p:nvSpPr>
          <p:cNvPr id="41" name="Shape 39"/>
          <p:cNvSpPr/>
          <p:nvPr/>
        </p:nvSpPr>
        <p:spPr>
          <a:xfrm>
            <a:off x="8302752" y="1554480"/>
            <a:ext cx="128016" cy="91440"/>
          </a:xfrm>
          <a:prstGeom prst="ellipse">
            <a:avLst/>
          </a:prstGeom>
          <a:solidFill>
            <a:srgbClr val="4A2C17"/>
          </a:solidFill>
          <a:ln/>
        </p:spPr>
      </p:sp>
      <p:sp>
        <p:nvSpPr>
          <p:cNvPr id="42" name="Shape 40"/>
          <p:cNvSpPr/>
          <p:nvPr/>
        </p:nvSpPr>
        <p:spPr>
          <a:xfrm>
            <a:off x="365760" y="2514600"/>
            <a:ext cx="8412480" cy="54864"/>
          </a:xfrm>
          <a:prstGeom prst="rect">
            <a:avLst/>
          </a:prstGeom>
          <a:solidFill>
            <a:srgbClr val="1B4F72"/>
          </a:solidFill>
          <a:ln/>
        </p:spPr>
      </p:sp>
      <p:sp>
        <p:nvSpPr>
          <p:cNvPr id="43" name="Text 41"/>
          <p:cNvSpPr/>
          <p:nvPr/>
        </p:nvSpPr>
        <p:spPr>
          <a:xfrm>
            <a:off x="365760" y="2587752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◀━━━━━━━━━━━━━━━━━━━━━━━━━━━━━━━━━━━━━━━━━━━━━━━━━━━━━━━━━━━━━━━━━━━━━━━━━━━━━━━━━━━━━━━━━━━━━━━━━━━━━━━━━━━━━━━━━━━━━━━━▶</a:t>
            </a:r>
            <a:endParaRPr lang="en-US" sz="700" dirty="0"/>
          </a:p>
        </p:txBody>
      </p:sp>
      <p:sp>
        <p:nvSpPr>
          <p:cNvPr id="44" name="Text 42"/>
          <p:cNvSpPr/>
          <p:nvPr/>
        </p:nvSpPr>
        <p:spPr>
          <a:xfrm>
            <a:off x="365760" y="2898648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머리 포즈 (Head Pose)</a:t>
            </a:r>
            <a:endParaRPr lang="en-US" sz="1300" dirty="0"/>
          </a:p>
        </p:txBody>
      </p:sp>
      <p:sp>
        <p:nvSpPr>
          <p:cNvPr id="45" name="Shape 43"/>
          <p:cNvSpPr/>
          <p:nvPr/>
        </p:nvSpPr>
        <p:spPr>
          <a:xfrm>
            <a:off x="365760" y="3291840"/>
            <a:ext cx="274320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365760" y="3291840"/>
            <a:ext cx="2743200" cy="32004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47" name="Text 45"/>
          <p:cNvSpPr/>
          <p:nvPr/>
        </p:nvSpPr>
        <p:spPr>
          <a:xfrm>
            <a:off x="438912" y="3310128"/>
            <a:ext cx="259689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 차원: 포즈 (Pose)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457200" y="3675888"/>
            <a:ext cx="2560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머리 회전 방향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좌→우 연속 변화</a:t>
            </a:r>
            <a:endParaRPr lang="en-US" sz="1200" dirty="0"/>
          </a:p>
        </p:txBody>
      </p:sp>
      <p:sp>
        <p:nvSpPr>
          <p:cNvPr id="49" name="Shape 47"/>
          <p:cNvSpPr/>
          <p:nvPr/>
        </p:nvSpPr>
        <p:spPr>
          <a:xfrm>
            <a:off x="3246120" y="3291840"/>
            <a:ext cx="274320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3246120" y="3291840"/>
            <a:ext cx="2743200" cy="32004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51" name="Text 49"/>
          <p:cNvSpPr/>
          <p:nvPr/>
        </p:nvSpPr>
        <p:spPr>
          <a:xfrm>
            <a:off x="3319272" y="3310128"/>
            <a:ext cx="259689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 차원: 미소 (Smile)</a:t>
            </a:r>
            <a:endParaRPr lang="en-US" sz="1100" dirty="0"/>
          </a:p>
        </p:txBody>
      </p:sp>
      <p:sp>
        <p:nvSpPr>
          <p:cNvPr id="52" name="Text 50"/>
          <p:cNvSpPr/>
          <p:nvPr/>
        </p:nvSpPr>
        <p:spPr>
          <a:xfrm>
            <a:off x="3337560" y="3675888"/>
            <a:ext cx="2560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표정 정도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무표정→미소</a:t>
            </a:r>
            <a:endParaRPr lang="en-US" sz="1200" dirty="0"/>
          </a:p>
        </p:txBody>
      </p:sp>
      <p:sp>
        <p:nvSpPr>
          <p:cNvPr id="53" name="Shape 51"/>
          <p:cNvSpPr/>
          <p:nvPr/>
        </p:nvSpPr>
        <p:spPr>
          <a:xfrm>
            <a:off x="6126480" y="3291840"/>
            <a:ext cx="274320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6126480" y="3291840"/>
            <a:ext cx="2743200" cy="32004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55" name="Text 53"/>
          <p:cNvSpPr/>
          <p:nvPr/>
        </p:nvSpPr>
        <p:spPr>
          <a:xfrm>
            <a:off x="6199632" y="3310128"/>
            <a:ext cx="259689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 차원: 나이 (Age)</a:t>
            </a:r>
            <a:endParaRPr lang="en-US" sz="1100" dirty="0"/>
          </a:p>
        </p:txBody>
      </p:sp>
      <p:sp>
        <p:nvSpPr>
          <p:cNvPr id="56" name="Text 54"/>
          <p:cNvSpPr/>
          <p:nvPr/>
        </p:nvSpPr>
        <p:spPr>
          <a:xfrm>
            <a:off x="6217920" y="3675888"/>
            <a:ext cx="2560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외모 나이대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젊음→노년</a:t>
            </a:r>
            <a:endParaRPr lang="en-US" sz="1200" dirty="0"/>
          </a:p>
        </p:txBody>
      </p:sp>
      <p:sp>
        <p:nvSpPr>
          <p:cNvPr id="57" name="Text 55"/>
          <p:cNvSpPr/>
          <p:nvPr/>
        </p:nvSpPr>
        <p:spPr>
          <a:xfrm>
            <a:off x="365760" y="4919472"/>
            <a:ext cx="8412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z의 각 차원 = 데이터 공간의 해석 가능한 특징 하나</a:t>
            </a:r>
            <a:endParaRPr lang="en-US" sz="10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73152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생성적 적대 신경망 (GAN)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65760" y="640080"/>
            <a:ext cx="8412480" cy="658368"/>
          </a:xfrm>
          <a:prstGeom prst="rect">
            <a:avLst/>
          </a:prstGeom>
          <a:solidFill>
            <a:srgbClr val="0A2540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694944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핵심: 두 신경망을 경쟁시켜 생성 모델을 학습한다. 복잡한 분포를 직접 추정하는 대신, 단순한 노이즈를 원하는 데이터 분포로 변환하는 법을 학습한다.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320040" y="1417320"/>
            <a:ext cx="3931920" cy="3429000"/>
          </a:xfrm>
          <a:prstGeom prst="rect">
            <a:avLst/>
          </a:prstGeom>
          <a:solidFill>
            <a:srgbClr val="0A1535"/>
          </a:solidFill>
          <a:ln w="25400">
            <a:solidFill>
              <a:srgbClr val="5B21B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0040" y="1417320"/>
            <a:ext cx="3931920" cy="384048"/>
          </a:xfrm>
          <a:prstGeom prst="rect">
            <a:avLst/>
          </a:prstGeom>
          <a:solidFill>
            <a:srgbClr val="5B21B6"/>
          </a:solidFill>
          <a:ln/>
        </p:spPr>
      </p:sp>
      <p:sp>
        <p:nvSpPr>
          <p:cNvPr id="8" name="Text 6"/>
          <p:cNvSpPr/>
          <p:nvPr/>
        </p:nvSpPr>
        <p:spPr>
          <a:xfrm>
            <a:off x="411480" y="1444752"/>
            <a:ext cx="3749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🎨 생성자 (Generator) G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1874520"/>
            <a:ext cx="370332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역할:
</a:t>
            </a:r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랜덤 노이즈 z를 입력받아
가짜 데이터(X_fake)를 생성
</a:t>
            </a:r>
            <a:pPr indent="0" marL="0">
              <a:buNone/>
            </a:pPr>
            <a:r>
              <a:rPr lang="en-US" sz="1150" b="1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목표:
</a:t>
            </a:r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판별자를 속일 만큼 진짜처럼 보이는
데이터를 만들어 내기
</a:t>
            </a:r>
            <a:pPr indent="0" marL="0">
              <a:buNone/>
            </a:pPr>
            <a:r>
              <a:rPr lang="en-US" sz="1150" b="1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학습 방향:
</a:t>
            </a:r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가짜로 분류될 확률 최소화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argmin_G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892040" y="1417320"/>
            <a:ext cx="3931920" cy="3429000"/>
          </a:xfrm>
          <a:prstGeom prst="rect">
            <a:avLst/>
          </a:prstGeom>
          <a:solidFill>
            <a:srgbClr val="0A1535"/>
          </a:solidFill>
          <a:ln w="25400">
            <a:solidFill>
              <a:srgbClr val="00B4D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892040" y="1417320"/>
            <a:ext cx="3931920" cy="384048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12" name="Text 10"/>
          <p:cNvSpPr/>
          <p:nvPr/>
        </p:nvSpPr>
        <p:spPr>
          <a:xfrm>
            <a:off x="4983480" y="1444752"/>
            <a:ext cx="3749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판별자 (Discriminator) D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029200" y="1874520"/>
            <a:ext cx="370332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역할:
</a:t>
            </a:r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실제 데이터와 생성자의 가짜 데이터를
구분하는 이진 분류기
</a:t>
            </a:r>
            <a:pPr indent="0" marL="0">
              <a:buNone/>
            </a:pPr>
            <a:r>
              <a:rPr lang="en-US" sz="1150" b="1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목표:
</a:t>
            </a:r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진짜 → P(real)=1 판정
가짜 → P(real)=0 판정
</a:t>
            </a:r>
            <a:pPr indent="0" marL="0">
              <a:buNone/>
            </a:pPr>
            <a:r>
              <a:rPr lang="en-US" sz="1150" b="1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학습 방향:
</a:t>
            </a:r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판별 정확도 최대화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argmax_D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160520" y="2880360"/>
            <a:ext cx="822960" cy="822960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5" name="Text 13"/>
          <p:cNvSpPr/>
          <p:nvPr/>
        </p:nvSpPr>
        <p:spPr>
          <a:xfrm>
            <a:off x="4160520" y="288036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</a:t>
            </a:r>
            <a:endParaRPr lang="en-US" sz="16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EBF5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73152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GAN 손실 함수 &amp; 학습 과정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65760" y="640080"/>
            <a:ext cx="8412480" cy="91440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7315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argmin_G  argmax_D  𝔼_{z,x}[ log D(G(z))  +  log(1 − D(x)) ]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65760" y="1664208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교대 학습 과정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365760" y="2011680"/>
            <a:ext cx="8412480" cy="89611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7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2231136"/>
            <a:ext cx="457200" cy="457200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223113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051560" y="2066544"/>
            <a:ext cx="7589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 학습: 판별자 고정 G, 최적화 D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051560" y="2359152"/>
            <a:ext cx="7589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실제 데이터 x → D(x) ≈ 1이 되도록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가짜 데이터 G(z) → D(G(z)) ≈ 0이 되도록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구분 경계 선명하게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65760" y="2999232"/>
            <a:ext cx="8412480" cy="89611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7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57200" y="3218688"/>
            <a:ext cx="457200" cy="457200"/>
          </a:xfrm>
          <a:prstGeom prst="ellipse">
            <a:avLst/>
          </a:prstGeom>
          <a:solidFill>
            <a:srgbClr val="5B21B6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32186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051560" y="3054096"/>
            <a:ext cx="7589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B21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 학습: 판별자 고정 D, 최적화 G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051560" y="3346704"/>
            <a:ext cx="7589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G(z)를 생성하여 D가 1로 분류하도록 유도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D(G(z)) ≈ 1을 목표로 → D를 속이기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더 진짜 같은 샘플 생성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365760" y="3986784"/>
            <a:ext cx="8412480" cy="89611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7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57200" y="4206240"/>
            <a:ext cx="457200" cy="457200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9" name="Text 17"/>
          <p:cNvSpPr/>
          <p:nvPr/>
        </p:nvSpPr>
        <p:spPr>
          <a:xfrm>
            <a:off x="457200" y="4206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051560" y="4041648"/>
            <a:ext cx="7589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수렴: 내쉬 균형 (Nash Equilibrium)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051560" y="4334256"/>
            <a:ext cx="7589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G가 진짜 분포를 완벽히 재현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D는 50% 확률로만 구분 가능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P_model(x) = P_data(x)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365760" y="4937760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GAN은 미분 가능하여 역전파로 학습 가능하나, 실제로 훈련이 불안정할 수 있음 (mode collapse, vanishing gradient 등)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EBF5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73152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GAN의 확장: CycleGAN — 분포 변환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65760" y="640080"/>
            <a:ext cx="8412480" cy="658368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694944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GAN: 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가우시안 노이즈 → 목표 데이터 분포    </a:t>
            </a:r>
            <a:pPr indent="0" marL="0">
              <a:buNone/>
            </a:pPr>
            <a:r>
              <a:rPr lang="en-US" sz="12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CycleGAN: 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데이터 분포 X → 데이터 분포 Y (쌍 없이!)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463040"/>
            <a:ext cx="1828800" cy="2011680"/>
          </a:xfrm>
          <a:prstGeom prst="ellipse">
            <a:avLst/>
          </a:prstGeom>
          <a:solidFill>
            <a:srgbClr val="86EFAC">
              <a:alpha val="50000"/>
            </a:srgbClr>
          </a:solidFill>
          <a:ln w="25400">
            <a:solidFill>
              <a:srgbClr val="16653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205740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도메인 X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(말)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858000" y="1463040"/>
            <a:ext cx="1828800" cy="2011680"/>
          </a:xfrm>
          <a:prstGeom prst="ellipse">
            <a:avLst/>
          </a:prstGeom>
          <a:solidFill>
            <a:srgbClr val="BFDBFE">
              <a:alpha val="50000"/>
            </a:srgbClr>
          </a:solidFill>
          <a:ln w="25400">
            <a:solidFill>
              <a:srgbClr val="1B4F7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0" y="205740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도메인 Y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(얼룩말)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2331720" y="2103120"/>
            <a:ext cx="2194560" cy="73152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11" name="Shape 9"/>
          <p:cNvSpPr/>
          <p:nvPr/>
        </p:nvSpPr>
        <p:spPr>
          <a:xfrm>
            <a:off x="4526280" y="2029968"/>
            <a:ext cx="109728" cy="219456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12" name="Text 10"/>
          <p:cNvSpPr/>
          <p:nvPr/>
        </p:nvSpPr>
        <p:spPr>
          <a:xfrm>
            <a:off x="2651760" y="1719072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G: X→Y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331720" y="2450592"/>
            <a:ext cx="2194560" cy="73152"/>
          </a:xfrm>
          <a:prstGeom prst="rect">
            <a:avLst/>
          </a:prstGeom>
          <a:solidFill>
            <a:srgbClr val="5B21B6"/>
          </a:solidFill>
          <a:ln/>
        </p:spPr>
      </p:sp>
      <p:sp>
        <p:nvSpPr>
          <p:cNvPr id="14" name="Shape 12"/>
          <p:cNvSpPr/>
          <p:nvPr/>
        </p:nvSpPr>
        <p:spPr>
          <a:xfrm>
            <a:off x="2331720" y="2377440"/>
            <a:ext cx="109728" cy="219456"/>
          </a:xfrm>
          <a:prstGeom prst="rect">
            <a:avLst/>
          </a:prstGeom>
          <a:solidFill>
            <a:srgbClr val="5B21B6"/>
          </a:solidFill>
          <a:ln/>
        </p:spPr>
      </p:sp>
      <p:sp>
        <p:nvSpPr>
          <p:cNvPr id="15" name="Text 13"/>
          <p:cNvSpPr/>
          <p:nvPr/>
        </p:nvSpPr>
        <p:spPr>
          <a:xfrm>
            <a:off x="2651760" y="257860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B21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F: Y→X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931920" y="1417320"/>
            <a:ext cx="1280160" cy="594360"/>
          </a:xfrm>
          <a:prstGeom prst="rect">
            <a:avLst/>
          </a:prstGeom>
          <a:solidFill>
            <a:srgbClr val="0D1B2A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931920" y="1481328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D_Y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3931920" y="2606040"/>
            <a:ext cx="1280160" cy="594360"/>
          </a:xfrm>
          <a:prstGeom prst="rect">
            <a:avLst/>
          </a:prstGeom>
          <a:solidFill>
            <a:srgbClr val="0D1B2A"/>
          </a:solidFill>
          <a:ln w="12700">
            <a:solidFill>
              <a:srgbClr val="5B21B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931920" y="2670048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B21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D_X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365760" y="365760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실제 적용 사례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48640" y="4005072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말 ↔ 얼룩말 이미지 변환 (스타일 트랜스퍼)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48640" y="427024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지도 ↔ 항공 사진 변환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48640" y="4535424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음성 스타일 변환 (스펙트로그램 이미지로 처리)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48640" y="480060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MIT 6.S191: Obama 음성 합성 데모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90E0E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73152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VAE vs. GAN — 종합 비교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640080"/>
            <a:ext cx="2011680" cy="384048"/>
          </a:xfrm>
          <a:prstGeom prst="rect">
            <a:avLst/>
          </a:prstGeom>
          <a:solidFill>
            <a:srgbClr val="1E4A6E"/>
          </a:solidFill>
          <a:ln/>
        </p:spPr>
      </p:sp>
      <p:sp>
        <p:nvSpPr>
          <p:cNvPr id="5" name="Text 3"/>
          <p:cNvSpPr/>
          <p:nvPr/>
        </p:nvSpPr>
        <p:spPr>
          <a:xfrm>
            <a:off x="320040" y="658368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구분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286000" y="640080"/>
            <a:ext cx="3383280" cy="384048"/>
          </a:xfrm>
          <a:prstGeom prst="rect">
            <a:avLst/>
          </a:prstGeom>
          <a:solidFill>
            <a:srgbClr val="1B4F72"/>
          </a:solidFill>
          <a:ln/>
        </p:spPr>
      </p:sp>
      <p:sp>
        <p:nvSpPr>
          <p:cNvPr id="7" name="Text 5"/>
          <p:cNvSpPr/>
          <p:nvPr/>
        </p:nvSpPr>
        <p:spPr>
          <a:xfrm>
            <a:off x="2331720" y="658368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VAE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669280" y="640080"/>
            <a:ext cx="3383280" cy="384048"/>
          </a:xfrm>
          <a:prstGeom prst="rect">
            <a:avLst/>
          </a:prstGeom>
          <a:solidFill>
            <a:srgbClr val="5B21B6"/>
          </a:solidFill>
          <a:ln/>
        </p:spPr>
      </p:sp>
      <p:sp>
        <p:nvSpPr>
          <p:cNvPr id="9" name="Text 7"/>
          <p:cNvSpPr/>
          <p:nvPr/>
        </p:nvSpPr>
        <p:spPr>
          <a:xfrm>
            <a:off x="5715000" y="658368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GAN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274320" y="1078992"/>
            <a:ext cx="2011680" cy="749808"/>
          </a:xfrm>
          <a:prstGeom prst="rect">
            <a:avLst/>
          </a:prstGeom>
          <a:solidFill>
            <a:srgbClr val="0A1535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7472" y="1124712"/>
            <a:ext cx="186537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접근 방식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286000" y="1078992"/>
            <a:ext cx="3383280" cy="749808"/>
          </a:xfrm>
          <a:prstGeom prst="rect">
            <a:avLst/>
          </a:prstGeom>
          <a:solidFill>
            <a:srgbClr val="0A1535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359152" y="1124712"/>
            <a:ext cx="323697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밀도 추정 기반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인코더-디코더 구조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669280" y="1078992"/>
            <a:ext cx="3383280" cy="749808"/>
          </a:xfrm>
          <a:prstGeom prst="rect">
            <a:avLst/>
          </a:prstGeom>
          <a:solidFill>
            <a:srgbClr val="0A1535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742432" y="1124712"/>
            <a:ext cx="323697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샘플 생성 기반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생성자-판별자 게임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74320" y="1847088"/>
            <a:ext cx="2011680" cy="749808"/>
          </a:xfrm>
          <a:prstGeom prst="rect">
            <a:avLst/>
          </a:prstGeom>
          <a:solidFill>
            <a:srgbClr val="071025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47472" y="1892808"/>
            <a:ext cx="186537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잠재 공간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2286000" y="1847088"/>
            <a:ext cx="3383280" cy="749808"/>
          </a:xfrm>
          <a:prstGeom prst="rect">
            <a:avLst/>
          </a:prstGeom>
          <a:solidFill>
            <a:srgbClr val="071025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359152" y="1892808"/>
            <a:ext cx="323697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명시적 z 학습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해석 가능한 특징 추출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669280" y="1847088"/>
            <a:ext cx="3383280" cy="749808"/>
          </a:xfrm>
          <a:prstGeom prst="rect">
            <a:avLst/>
          </a:prstGeom>
          <a:solidFill>
            <a:srgbClr val="071025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742432" y="1892808"/>
            <a:ext cx="323697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암묵적 z (노이즈)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직접 해석 어려움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274320" y="2615184"/>
            <a:ext cx="2011680" cy="749808"/>
          </a:xfrm>
          <a:prstGeom prst="rect">
            <a:avLst/>
          </a:prstGeom>
          <a:solidFill>
            <a:srgbClr val="0A1535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47472" y="2660904"/>
            <a:ext cx="186537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학습 안정성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2286000" y="2615184"/>
            <a:ext cx="3383280" cy="749808"/>
          </a:xfrm>
          <a:prstGeom prst="rect">
            <a:avLst/>
          </a:prstGeom>
          <a:solidFill>
            <a:srgbClr val="0A1535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359152" y="2660904"/>
            <a:ext cx="323697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비교적 안정적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(KL + 재구성 손실)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669280" y="2615184"/>
            <a:ext cx="3383280" cy="749808"/>
          </a:xfrm>
          <a:prstGeom prst="rect">
            <a:avLst/>
          </a:prstGeom>
          <a:solidFill>
            <a:srgbClr val="0A1535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742432" y="2660904"/>
            <a:ext cx="323697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불안정할 수 있음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(GAN 특유 문제들)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74320" y="3383280"/>
            <a:ext cx="2011680" cy="749808"/>
          </a:xfrm>
          <a:prstGeom prst="rect">
            <a:avLst/>
          </a:prstGeom>
          <a:solidFill>
            <a:srgbClr val="071025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47472" y="3429000"/>
            <a:ext cx="186537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생성 품질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2286000" y="3383280"/>
            <a:ext cx="3383280" cy="749808"/>
          </a:xfrm>
          <a:prstGeom prst="rect">
            <a:avLst/>
          </a:prstGeom>
          <a:solidFill>
            <a:srgbClr val="071025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359152" y="3429000"/>
            <a:ext cx="323697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약간 흐릿한 경향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(MSE 손실 특성)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5669280" y="3383280"/>
            <a:ext cx="3383280" cy="749808"/>
          </a:xfrm>
          <a:prstGeom prst="rect">
            <a:avLst/>
          </a:prstGeom>
          <a:solidFill>
            <a:srgbClr val="071025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742432" y="3429000"/>
            <a:ext cx="323697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매우 선명하고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사실적인 이미지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274320" y="4151376"/>
            <a:ext cx="2011680" cy="749808"/>
          </a:xfrm>
          <a:prstGeom prst="rect">
            <a:avLst/>
          </a:prstGeom>
          <a:solidFill>
            <a:srgbClr val="0A1535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47472" y="4197096"/>
            <a:ext cx="186537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주요 활용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2286000" y="4151376"/>
            <a:ext cx="3383280" cy="749808"/>
          </a:xfrm>
          <a:prstGeom prst="rect">
            <a:avLst/>
          </a:prstGeom>
          <a:solidFill>
            <a:srgbClr val="0A1535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359152" y="4197096"/>
            <a:ext cx="323697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이상치 탐지, 편향 제거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잠재 특징 분석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5669280" y="4151376"/>
            <a:ext cx="3383280" cy="749808"/>
          </a:xfrm>
          <a:prstGeom prst="rect">
            <a:avLst/>
          </a:prstGeom>
          <a:solidFill>
            <a:srgbClr val="0A1535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742432" y="4197096"/>
            <a:ext cx="323697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고품질 이미지 생성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스타일 변환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274320" y="4892040"/>
            <a:ext cx="8595360" cy="246888"/>
          </a:xfrm>
          <a:prstGeom prst="rect">
            <a:avLst/>
          </a:prstGeom>
          <a:solidFill>
            <a:srgbClr val="0A2540"/>
          </a:solidFill>
          <a:ln/>
        </p:spPr>
      </p:sp>
      <p:sp>
        <p:nvSpPr>
          <p:cNvPr id="41" name="Text 39"/>
          <p:cNvSpPr/>
          <p:nvPr/>
        </p:nvSpPr>
        <p:spPr>
          <a:xfrm>
            <a:off x="411480" y="4910328"/>
            <a:ext cx="84124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 다음 강의 (Lecture 6, 10): Diffusion Models — 현재 최고 성능의 생성 모델</a:t>
            </a:r>
            <a:endParaRPr lang="en-US" sz="10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EBF5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B4F7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73152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VAE 핵심 정리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20040" y="621792"/>
            <a:ext cx="850392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7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11480" y="777240"/>
            <a:ext cx="475488" cy="475488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6" name="Text 4"/>
          <p:cNvSpPr/>
          <p:nvPr/>
        </p:nvSpPr>
        <p:spPr>
          <a:xfrm>
            <a:off x="411480" y="77724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68580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데이터 압축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05840" y="987552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입력 데이터를 낮은 차원의 잠재 벡터 z로 압축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핵심 특징만 추출하여 컴팩트한 표현 학습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0040" y="1481328"/>
            <a:ext cx="850392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7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11480" y="1636776"/>
            <a:ext cx="475488" cy="475488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11" name="Text 9"/>
          <p:cNvSpPr/>
          <p:nvPr/>
        </p:nvSpPr>
        <p:spPr>
          <a:xfrm>
            <a:off x="411480" y="163677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005840" y="1545336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비지도 학습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005840" y="1847088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재구성 손실로 레이블 없이 자기 자신을 지도 신호로 활용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어떤 특징이 중요한지 데이터 스스로 결정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20040" y="2340864"/>
            <a:ext cx="850392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7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11480" y="2496312"/>
            <a:ext cx="475488" cy="475488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16" name="Text 14"/>
          <p:cNvSpPr/>
          <p:nvPr/>
        </p:nvSpPr>
        <p:spPr>
          <a:xfrm>
            <a:off x="411480" y="249631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005840" y="240487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역전파 학습 (재매개변수화)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005840" y="2706624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 = μ + σ⊙ε 로 샘플링 분리 → end-to-end 역전파 가능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확률적 노드를 결정론적으로 처리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20040" y="3200400"/>
            <a:ext cx="850392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7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11480" y="3355848"/>
            <a:ext cx="475488" cy="475488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21" name="Text 19"/>
          <p:cNvSpPr/>
          <p:nvPr/>
        </p:nvSpPr>
        <p:spPr>
          <a:xfrm>
            <a:off x="411480" y="335584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④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005840" y="3264408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잠재 변수 해석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005840" y="356616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z의 각 차원을 하나씩 변화시켜 무엇이 인코딩되었는지 파악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포즈, 표정, 조명 등 해석 가능한 특징 발견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20040" y="4059936"/>
            <a:ext cx="850392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7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11480" y="4215384"/>
            <a:ext cx="475488" cy="475488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26" name="Text 24"/>
          <p:cNvSpPr/>
          <p:nvPr/>
        </p:nvSpPr>
        <p:spPr>
          <a:xfrm>
            <a:off x="411480" y="421538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⑤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1005840" y="4123944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새 샘플 생성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1005840" y="4425696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학습된 잠재 공간에서 z를 샘플링 → 디코더로 새 데이터 생성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밀도 추정 + 생성을 동시에 수행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65776"/>
            <a:ext cx="9144000" cy="73152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3200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4 마무리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9601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오늘 배운 내용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298448"/>
            <a:ext cx="274320" cy="384048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1316736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생성 모델링 기초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68680" y="1499616"/>
            <a:ext cx="7772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밀도 추정 + 샘플 생성 = 생성 AI의 근간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1883664"/>
            <a:ext cx="274320" cy="384048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10" name="Text 8"/>
          <p:cNvSpPr/>
          <p:nvPr/>
        </p:nvSpPr>
        <p:spPr>
          <a:xfrm>
            <a:off x="868680" y="1901952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잠재 변수 (z)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68680" y="2084832"/>
            <a:ext cx="7772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플라톤의 동굴 비유 — 관측 불가능한 진짜 특징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2468880"/>
            <a:ext cx="274320" cy="384048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13" name="Text 11"/>
          <p:cNvSpPr/>
          <p:nvPr/>
        </p:nvSpPr>
        <p:spPr>
          <a:xfrm>
            <a:off x="868680" y="2487168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오토인코더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68680" y="2670048"/>
            <a:ext cx="7772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인코더→z→디코더, 재구성 손실로 비지도 학습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3054096"/>
            <a:ext cx="274320" cy="384048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16" name="Text 14"/>
          <p:cNvSpPr/>
          <p:nvPr/>
        </p:nvSpPr>
        <p:spPr>
          <a:xfrm>
            <a:off x="868680" y="3072384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VAE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68680" y="3255264"/>
            <a:ext cx="7772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확률적 잠재 공간 + KL 정규화 + 재매개변수화 트릭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7200" y="3639312"/>
            <a:ext cx="274320" cy="384048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19" name="Text 17"/>
          <p:cNvSpPr/>
          <p:nvPr/>
        </p:nvSpPr>
        <p:spPr>
          <a:xfrm>
            <a:off x="868680" y="3657600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GAN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68680" y="3840480"/>
            <a:ext cx="7772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생성자 vs 판별자 — 적대적 게임으로 분포 학습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57200" y="4224528"/>
            <a:ext cx="274320" cy="384048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22" name="Text 20"/>
          <p:cNvSpPr/>
          <p:nvPr/>
        </p:nvSpPr>
        <p:spPr>
          <a:xfrm>
            <a:off x="868680" y="4242816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CycleGAN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868680" y="4425696"/>
            <a:ext cx="7772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쌍 없이 두 도메인 간 스타일 변환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57200" y="4754880"/>
            <a:ext cx="8229600" cy="256032"/>
          </a:xfrm>
          <a:prstGeom prst="rect">
            <a:avLst/>
          </a:prstGeom>
          <a:solidFill>
            <a:srgbClr val="0A2540"/>
          </a:solidFill>
          <a:ln/>
        </p:spPr>
      </p:sp>
      <p:sp>
        <p:nvSpPr>
          <p:cNvPr id="25" name="Text 23"/>
          <p:cNvSpPr/>
          <p:nvPr/>
        </p:nvSpPr>
        <p:spPr>
          <a:xfrm>
            <a:off x="548640" y="4773168"/>
            <a:ext cx="8046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다음: Lecture 6, 10 — Diffusion Models  |  실습: VAE로 얼굴 데이터 편향 제거 (Lab 2)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딥 생성 모델링</dc:title>
  <dc:subject>PptxGenJS Presentation</dc:subject>
  <dc:creator>PptxGenJS</dc:creator>
  <cp:lastModifiedBy>PptxGenJS</cp:lastModifiedBy>
  <cp:revision>1</cp:revision>
  <dcterms:created xsi:type="dcterms:W3CDTF">2026-04-07T02:47:46Z</dcterms:created>
  <dcterms:modified xsi:type="dcterms:W3CDTF">2026-04-07T02:47:46Z</dcterms:modified>
</cp:coreProperties>
</file>